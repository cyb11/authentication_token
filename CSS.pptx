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5/9/2022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5/9/2022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5/9/2022</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5/9/2022</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december.com/html/4/element/img.html"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december.com/html/4/element/div.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december.com/html/4/element/div.html"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december.com/html/4/element/div.html"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hyperlink" Target="https://linuxhint.com/2d-transformation-methods-css/#7" TargetMode="External"/><Relationship Id="rId3" Type="http://schemas.openxmlformats.org/officeDocument/2006/relationships/hyperlink" Target="https://linuxhint.com/2d-transformation-methods-css/#2" TargetMode="External"/><Relationship Id="rId7" Type="http://schemas.openxmlformats.org/officeDocument/2006/relationships/hyperlink" Target="https://linuxhint.com/2d-transformation-methods-css/#6" TargetMode="External"/><Relationship Id="rId2" Type="http://schemas.openxmlformats.org/officeDocument/2006/relationships/hyperlink" Target="https://linuxhint.com/2d-transformation-methods-css/#1" TargetMode="External"/><Relationship Id="rId1" Type="http://schemas.openxmlformats.org/officeDocument/2006/relationships/slideLayout" Target="../slideLayouts/slideLayout2.xml"/><Relationship Id="rId6" Type="http://schemas.openxmlformats.org/officeDocument/2006/relationships/hyperlink" Target="https://linuxhint.com/2d-transformation-methods-css/#5" TargetMode="External"/><Relationship Id="rId5" Type="http://schemas.openxmlformats.org/officeDocument/2006/relationships/hyperlink" Target="https://linuxhint.com/2d-transformation-methods-css/#4" TargetMode="External"/><Relationship Id="rId10" Type="http://schemas.openxmlformats.org/officeDocument/2006/relationships/hyperlink" Target="https://linuxhint.com/2d-transformation-methods-css/#9" TargetMode="External"/><Relationship Id="rId4" Type="http://schemas.openxmlformats.org/officeDocument/2006/relationships/hyperlink" Target="https://linuxhint.com/2d-transformation-methods-css/#3" TargetMode="External"/><Relationship Id="rId9" Type="http://schemas.openxmlformats.org/officeDocument/2006/relationships/hyperlink" Target="https://linuxhint.com/2d-transformation-methods-css/#8"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www.tutorialbrain.com/css_tutorial/css_text/"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www.tutorialbrain.com/css_tutorial/css_box_shadow/" TargetMode="External"/><Relationship Id="rId2" Type="http://schemas.openxmlformats.org/officeDocument/2006/relationships/hyperlink" Target="https://www.tutorialbrain.com/css_tutorial/css_text_shadow/"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www.tutorialbrain.com/css_tutorial/css_text_shadow/"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CSS </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26907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CSS stands for Cascading Style Sheets. It is the language for describing the presentation of Web pages, including </a:t>
            </a:r>
            <a:r>
              <a:rPr lang="en-US" dirty="0" err="1"/>
              <a:t>colours</a:t>
            </a:r>
            <a:r>
              <a:rPr lang="en-US" dirty="0"/>
              <a:t>, layout, and fonts, thus making our web pages presentable to the users.</a:t>
            </a:r>
          </a:p>
        </p:txBody>
      </p:sp>
    </p:spTree>
    <p:extLst>
      <p:ext uri="{BB962C8B-B14F-4D97-AF65-F5344CB8AC3E}">
        <p14:creationId xmlns:p14="http://schemas.microsoft.com/office/powerpoint/2010/main" val="2196604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CSS Box Model</a:t>
            </a:r>
          </a:p>
          <a:p>
            <a:r>
              <a:rPr lang="en-US" dirty="0"/>
              <a:t>According to CSS, every element on your web page fits into a box. This is known as the CSS Box Model.</a:t>
            </a:r>
          </a:p>
          <a:p>
            <a:r>
              <a:rPr lang="en-US" dirty="0"/>
              <a:t>Understanding the CSS Box Model will help you lay elements out on your page. It will also help you understand how the elements will react to one another.</a:t>
            </a:r>
          </a:p>
          <a:p>
            <a:endParaRPr lang="en-US" dirty="0"/>
          </a:p>
        </p:txBody>
      </p:sp>
    </p:spTree>
    <p:extLst>
      <p:ext uri="{BB962C8B-B14F-4D97-AF65-F5344CB8AC3E}">
        <p14:creationId xmlns:p14="http://schemas.microsoft.com/office/powerpoint/2010/main" val="509559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80321" y="2336873"/>
            <a:ext cx="6684091" cy="3381375"/>
          </a:xfrm>
          <a:prstGeom prst="rect">
            <a:avLst/>
          </a:prstGeom>
        </p:spPr>
      </p:pic>
    </p:spTree>
    <p:extLst>
      <p:ext uri="{BB962C8B-B14F-4D97-AF65-F5344CB8AC3E}">
        <p14:creationId xmlns:p14="http://schemas.microsoft.com/office/powerpoint/2010/main" val="3280161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containing block of this page allows for a maximum width of 800px. Our box will stretch to fit that.</a:t>
            </a:r>
          </a:p>
          <a:p>
            <a:r>
              <a:rPr lang="en-US" dirty="0"/>
              <a:t>In CSS, the width of the box is only the width of the content. To calculate the actual amount of horizontal space the box will take up, we have to add the margin, border, and padding amounts for each side.</a:t>
            </a:r>
          </a:p>
          <a:p>
            <a:r>
              <a:rPr lang="en-US" dirty="0"/>
              <a:t>This is the same box as the</a:t>
            </a:r>
          </a:p>
          <a:p>
            <a:endParaRPr lang="en-US" dirty="0"/>
          </a:p>
        </p:txBody>
      </p:sp>
    </p:spTree>
    <p:extLst>
      <p:ext uri="{BB962C8B-B14F-4D97-AF65-F5344CB8AC3E}">
        <p14:creationId xmlns:p14="http://schemas.microsoft.com/office/powerpoint/2010/main" val="2388396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content of the box above is 200px. However, we have margins, borders and padding on the left and right of the box. Firebug can easily show us this.</a:t>
            </a:r>
            <a:endParaRPr lang="en-US" dirty="0"/>
          </a:p>
        </p:txBody>
      </p:sp>
    </p:spTree>
    <p:extLst>
      <p:ext uri="{BB962C8B-B14F-4D97-AF65-F5344CB8AC3E}">
        <p14:creationId xmlns:p14="http://schemas.microsoft.com/office/powerpoint/2010/main" val="2437083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By adding all of the margin, borders, and padding on the left and right of the box to the specified width of 200px, we get 264px. The width of the above box is 200px, but the actual amount of vertical space it takes up is 264px.</a:t>
            </a:r>
          </a:p>
          <a:p>
            <a:r>
              <a:rPr lang="en-US" dirty="0"/>
              <a:t>If we wanted this same box to fit into a space of 400px, we would have to calculate the box width.</a:t>
            </a:r>
          </a:p>
          <a:p>
            <a:endParaRPr lang="en-US" dirty="0"/>
          </a:p>
        </p:txBody>
      </p:sp>
    </p:spTree>
    <p:extLst>
      <p:ext uri="{BB962C8B-B14F-4D97-AF65-F5344CB8AC3E}">
        <p14:creationId xmlns:p14="http://schemas.microsoft.com/office/powerpoint/2010/main" val="232381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a:t>Box Model Elements and Syntax</a:t>
            </a:r>
          </a:p>
          <a:p>
            <a:r>
              <a:rPr lang="en-US" dirty="0"/>
              <a:t>There are majorly four elements in a box-model on which the behavior of the box (element) relies. These are:</a:t>
            </a:r>
          </a:p>
          <a:p>
            <a:r>
              <a:rPr lang="en-US" b="1" dirty="0"/>
              <a:t>Content:</a:t>
            </a:r>
            <a:r>
              <a:rPr lang="en-US" dirty="0"/>
              <a:t> This is the main content of the element. It can be text, links, images, videos or any other content.</a:t>
            </a:r>
          </a:p>
          <a:p>
            <a:r>
              <a:rPr lang="en-US" b="1" dirty="0"/>
              <a:t>Padding:</a:t>
            </a:r>
            <a:r>
              <a:rPr lang="en-US" dirty="0"/>
              <a:t> This is the gap between the content and the border (which is another element) of the content.</a:t>
            </a:r>
          </a:p>
          <a:p>
            <a:r>
              <a:rPr lang="en-US" b="1" dirty="0"/>
              <a:t>Border:</a:t>
            </a:r>
            <a:r>
              <a:rPr lang="en-US" dirty="0"/>
              <a:t> This can be visualized as a solid boundary of the content of the element.</a:t>
            </a:r>
          </a:p>
          <a:p>
            <a:r>
              <a:rPr lang="en-US" b="1" dirty="0"/>
              <a:t>Margin:</a:t>
            </a:r>
            <a:r>
              <a:rPr lang="en-US" dirty="0"/>
              <a:t> This is the space that is maintained between various boxes on a particular page i.e. the space between two borders.</a:t>
            </a:r>
          </a:p>
          <a:p>
            <a:endParaRPr lang="en-US" dirty="0"/>
          </a:p>
        </p:txBody>
      </p:sp>
    </p:spTree>
    <p:extLst>
      <p:ext uri="{BB962C8B-B14F-4D97-AF65-F5344CB8AC3E}">
        <p14:creationId xmlns:p14="http://schemas.microsoft.com/office/powerpoint/2010/main" val="84051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normAutofit fontScale="92500" lnSpcReduction="10000"/>
          </a:bodyPr>
          <a:lstStyle/>
          <a:p>
            <a:r>
              <a:rPr lang="en-US" dirty="0"/>
              <a:t>Syntax:</a:t>
            </a:r>
          </a:p>
          <a:p>
            <a:endParaRPr lang="en-US" dirty="0"/>
          </a:p>
          <a:p>
            <a:r>
              <a:rPr lang="en-US" dirty="0" err="1"/>
              <a:t>element_name</a:t>
            </a:r>
            <a:r>
              <a:rPr lang="en-US" dirty="0"/>
              <a:t>{</a:t>
            </a:r>
          </a:p>
          <a:p>
            <a:r>
              <a:rPr lang="en-US" dirty="0"/>
              <a:t>height:&lt;value&gt;;</a:t>
            </a:r>
          </a:p>
          <a:p>
            <a:r>
              <a:rPr lang="en-US" dirty="0"/>
              <a:t>width:&lt;value&gt;;</a:t>
            </a:r>
          </a:p>
          <a:p>
            <a:r>
              <a:rPr lang="en-US" dirty="0"/>
              <a:t>border:&lt;value&gt;;</a:t>
            </a:r>
          </a:p>
          <a:p>
            <a:r>
              <a:rPr lang="en-US" dirty="0"/>
              <a:t>padding: &lt;value&gt;;</a:t>
            </a:r>
          </a:p>
          <a:p>
            <a:r>
              <a:rPr lang="en-US" dirty="0"/>
              <a:t>margin:&lt;value&gt;;</a:t>
            </a:r>
          </a:p>
          <a:p>
            <a:r>
              <a:rPr lang="en-US" dirty="0"/>
              <a:t>}</a:t>
            </a:r>
          </a:p>
        </p:txBody>
      </p:sp>
    </p:spTree>
    <p:extLst>
      <p:ext uri="{BB962C8B-B14F-4D97-AF65-F5344CB8AC3E}">
        <p14:creationId xmlns:p14="http://schemas.microsoft.com/office/powerpoint/2010/main" val="1834438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060700" y="2504281"/>
            <a:ext cx="4600575" cy="3009900"/>
          </a:xfrm>
          <a:prstGeom prst="rect">
            <a:avLst/>
          </a:prstGeom>
        </p:spPr>
      </p:pic>
    </p:spTree>
    <p:extLst>
      <p:ext uri="{BB962C8B-B14F-4D97-AF65-F5344CB8AC3E}">
        <p14:creationId xmlns:p14="http://schemas.microsoft.com/office/powerpoint/2010/main" val="3579767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Designing layout for multiple elements on a page.</a:t>
            </a:r>
          </a:p>
          <a:p>
            <a:r>
              <a:rPr lang="en-US" dirty="0"/>
              <a:t>We will be using the External CSS approach for this example as well. Hence we will create a CSS file.</a:t>
            </a:r>
          </a:p>
          <a:p>
            <a:r>
              <a:rPr lang="en-US" dirty="0"/>
              <a:t>We will write the layout style for the heading element &lt;h2&gt;. We will fix the text properties also. The styling code for &lt;h2&gt; should be similar to this snippet of code:</a:t>
            </a:r>
          </a:p>
          <a:p>
            <a:endParaRPr lang="en-US" dirty="0"/>
          </a:p>
        </p:txBody>
      </p:sp>
    </p:spTree>
    <p:extLst>
      <p:ext uri="{BB962C8B-B14F-4D97-AF65-F5344CB8AC3E}">
        <p14:creationId xmlns:p14="http://schemas.microsoft.com/office/powerpoint/2010/main" val="382482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h2{</a:t>
            </a:r>
            <a:r>
              <a:rPr lang="en-US" dirty="0"/>
              <a:t/>
            </a:r>
            <a:br>
              <a:rPr lang="en-US" dirty="0"/>
            </a:br>
            <a:r>
              <a:rPr lang="en-US" dirty="0"/>
              <a:t>width: 500px;</a:t>
            </a:r>
            <a:r>
              <a:rPr lang="en-US" dirty="0"/>
              <a:t/>
            </a:r>
            <a:br>
              <a:rPr lang="en-US" dirty="0"/>
            </a:br>
            <a:r>
              <a:rPr lang="en-US" dirty="0"/>
              <a:t>font-size: 20px;</a:t>
            </a:r>
            <a:r>
              <a:rPr lang="en-US" dirty="0"/>
              <a:t/>
            </a:r>
            <a:br>
              <a:rPr lang="en-US" dirty="0"/>
            </a:br>
            <a:r>
              <a:rPr lang="en-US" dirty="0"/>
              <a:t>padding: 20px 50px;</a:t>
            </a:r>
            <a:r>
              <a:rPr lang="en-US" dirty="0"/>
              <a:t/>
            </a:r>
            <a:br>
              <a:rPr lang="en-US" dirty="0"/>
            </a:br>
            <a:r>
              <a:rPr lang="en-US" dirty="0"/>
              <a:t>border: 10px double </a:t>
            </a:r>
            <a:r>
              <a:rPr lang="en-US" dirty="0" err="1"/>
              <a:t>blueviolet</a:t>
            </a:r>
            <a:r>
              <a:rPr lang="en-US" dirty="0"/>
              <a:t>;</a:t>
            </a:r>
            <a:r>
              <a:rPr lang="en-US" dirty="0"/>
              <a:t/>
            </a:r>
            <a:br>
              <a:rPr lang="en-US" dirty="0"/>
            </a:br>
            <a:r>
              <a:rPr lang="en-US" dirty="0"/>
              <a:t>margin: 10px 50px;</a:t>
            </a:r>
            <a:r>
              <a:rPr lang="en-US" dirty="0"/>
              <a:t/>
            </a:r>
            <a:br>
              <a:rPr lang="en-US" dirty="0"/>
            </a:br>
            <a:r>
              <a:rPr lang="en-US" dirty="0"/>
              <a:t>background-color: </a:t>
            </a:r>
            <a:r>
              <a:rPr lang="en-US" dirty="0" err="1"/>
              <a:t>lightcoral</a:t>
            </a:r>
            <a:r>
              <a:rPr lang="en-US" dirty="0"/>
              <a:t>;</a:t>
            </a:r>
            <a:r>
              <a:rPr lang="en-US" dirty="0"/>
              <a:t/>
            </a:r>
            <a:br>
              <a:rPr lang="en-US" dirty="0"/>
            </a:br>
            <a:r>
              <a:rPr lang="en-US" dirty="0"/>
              <a:t>text-align: center;</a:t>
            </a:r>
            <a:r>
              <a:rPr lang="en-US" dirty="0"/>
              <a:t/>
            </a:r>
            <a:br>
              <a:rPr lang="en-US" dirty="0"/>
            </a:br>
            <a:r>
              <a:rPr lang="en-US" dirty="0"/>
              <a:t>}</a:t>
            </a:r>
            <a:endParaRPr lang="en-US" dirty="0"/>
          </a:p>
        </p:txBody>
      </p:sp>
    </p:spTree>
    <p:extLst>
      <p:ext uri="{BB962C8B-B14F-4D97-AF65-F5344CB8AC3E}">
        <p14:creationId xmlns:p14="http://schemas.microsoft.com/office/powerpoint/2010/main" val="3259836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The display property specifies the display behavior (the type of rendering box) of an element. — W3</a:t>
            </a:r>
          </a:p>
          <a:p>
            <a:endParaRPr lang="en-US" dirty="0"/>
          </a:p>
          <a:p>
            <a:r>
              <a:rPr lang="en-US" dirty="0"/>
              <a:t>There are various values of the display property. I will be covering the following parts in this piece:</a:t>
            </a:r>
          </a:p>
          <a:p>
            <a:endParaRPr lang="en-US" dirty="0"/>
          </a:p>
          <a:p>
            <a:r>
              <a:rPr lang="en-US" dirty="0"/>
              <a:t>display: none vs. visibility: hidden</a:t>
            </a:r>
          </a:p>
          <a:p>
            <a:r>
              <a:rPr lang="en-US" dirty="0"/>
              <a:t>display: block</a:t>
            </a:r>
          </a:p>
          <a:p>
            <a:r>
              <a:rPr lang="en-US" dirty="0"/>
              <a:t>display: inline</a:t>
            </a:r>
          </a:p>
          <a:p>
            <a:r>
              <a:rPr lang="en-US" dirty="0"/>
              <a:t>display: inline-block</a:t>
            </a:r>
          </a:p>
        </p:txBody>
      </p:sp>
    </p:spTree>
    <p:extLst>
      <p:ext uri="{BB962C8B-B14F-4D97-AF65-F5344CB8AC3E}">
        <p14:creationId xmlns:p14="http://schemas.microsoft.com/office/powerpoint/2010/main" val="1856336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Display: None vs. Visibility: Hidden</a:t>
            </a:r>
          </a:p>
          <a:p>
            <a:r>
              <a:rPr lang="en-US" dirty="0"/>
              <a:t>We can hide elements by declaring a display: none value. Another way is to declare visibility: hidden instead of display: none, but there is a difference between them.</a:t>
            </a:r>
          </a:p>
        </p:txBody>
      </p:sp>
    </p:spTree>
    <p:extLst>
      <p:ext uri="{BB962C8B-B14F-4D97-AF65-F5344CB8AC3E}">
        <p14:creationId xmlns:p14="http://schemas.microsoft.com/office/powerpoint/2010/main" val="770672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#box-2 {</a:t>
            </a:r>
            <a:r>
              <a:rPr lang="en-US" dirty="0"/>
              <a:t/>
            </a:r>
            <a:br>
              <a:rPr lang="en-US" dirty="0"/>
            </a:br>
            <a:r>
              <a:rPr lang="en-US" b="1" dirty="0"/>
              <a:t>display: none;</a:t>
            </a:r>
            <a:br>
              <a:rPr lang="en-US" b="1" dirty="0"/>
            </a:br>
            <a:r>
              <a:rPr lang="en-US" dirty="0"/>
              <a:t>width: 100px;</a:t>
            </a:r>
            <a:r>
              <a:rPr lang="en-US" dirty="0"/>
              <a:t/>
            </a:r>
            <a:br>
              <a:rPr lang="en-US" dirty="0"/>
            </a:br>
            <a:r>
              <a:rPr lang="en-US" dirty="0"/>
              <a:t>height: 100px;</a:t>
            </a:r>
            <a:r>
              <a:rPr lang="en-US" dirty="0"/>
              <a:t/>
            </a:r>
            <a:br>
              <a:rPr lang="en-US" dirty="0"/>
            </a:br>
            <a:r>
              <a:rPr lang="en-US" dirty="0"/>
              <a:t>background: blue;</a:t>
            </a:r>
            <a:r>
              <a:rPr lang="en-US" b="1" dirty="0"/>
              <a:t/>
            </a:r>
            <a:br>
              <a:rPr lang="en-US" b="1" dirty="0"/>
            </a:br>
            <a:r>
              <a:rPr lang="en-US" dirty="0"/>
              <a:t>}</a:t>
            </a:r>
            <a:endParaRPr lang="en-US" dirty="0"/>
          </a:p>
        </p:txBody>
      </p:sp>
      <p:pic>
        <p:nvPicPr>
          <p:cNvPr id="4" name="Picture 3"/>
          <p:cNvPicPr>
            <a:picLocks noChangeAspect="1"/>
          </p:cNvPicPr>
          <p:nvPr/>
        </p:nvPicPr>
        <p:blipFill>
          <a:blip r:embed="rId2"/>
          <a:stretch>
            <a:fillRect/>
          </a:stretch>
        </p:blipFill>
        <p:spPr>
          <a:xfrm>
            <a:off x="4686300" y="2563812"/>
            <a:ext cx="2895600" cy="1400175"/>
          </a:xfrm>
          <a:prstGeom prst="rect">
            <a:avLst/>
          </a:prstGeom>
        </p:spPr>
      </p:pic>
    </p:spTree>
    <p:extLst>
      <p:ext uri="{BB962C8B-B14F-4D97-AF65-F5344CB8AC3E}">
        <p14:creationId xmlns:p14="http://schemas.microsoft.com/office/powerpoint/2010/main" val="2986041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Block vs. Inline</a:t>
            </a:r>
          </a:p>
          <a:p>
            <a:r>
              <a:rPr lang="en-US" dirty="0"/>
              <a:t>Have you ever noticed that some HTML tags like &lt;div&gt;, &lt;p&gt;, &lt;</a:t>
            </a:r>
            <a:r>
              <a:rPr lang="en-US" dirty="0" err="1"/>
              <a:t>ul</a:t>
            </a:r>
            <a:r>
              <a:rPr lang="en-US" dirty="0"/>
              <a:t>&gt; take full-width of space and each starts with a new line, whereas other HTML tags like &lt;span&gt;, &lt;</a:t>
            </a:r>
            <a:r>
              <a:rPr lang="en-US" dirty="0" err="1"/>
              <a:t>img</a:t>
            </a:r>
            <a:r>
              <a:rPr lang="en-US" dirty="0"/>
              <a:t>&gt; or &lt;a&gt; don’t need a new line and can be placed side by side?</a:t>
            </a:r>
          </a:p>
          <a:p>
            <a:endParaRPr lang="en-US" dirty="0"/>
          </a:p>
          <a:p>
            <a:r>
              <a:rPr lang="en-US" dirty="0"/>
              <a:t>This is because of the different display behaviors: Block or inline. Let’s see the difference with a short example. Without any CSS, I create an HTML template with &lt;p&gt; and &lt;span&gt; tags:</a:t>
            </a:r>
          </a:p>
        </p:txBody>
      </p:sp>
    </p:spTree>
    <p:extLst>
      <p:ext uri="{BB962C8B-B14F-4D97-AF65-F5344CB8AC3E}">
        <p14:creationId xmlns:p14="http://schemas.microsoft.com/office/powerpoint/2010/main" val="30361017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&lt;body&gt;</a:t>
            </a:r>
          </a:p>
          <a:p>
            <a:r>
              <a:rPr lang="en-US" dirty="0"/>
              <a:t>  &lt;p&gt;I'm a paragraph&lt;/p&gt;</a:t>
            </a:r>
          </a:p>
          <a:p>
            <a:r>
              <a:rPr lang="en-US" dirty="0"/>
              <a:t>  &lt;p&gt;I'm a paragraph too&lt;/p&gt;</a:t>
            </a:r>
          </a:p>
          <a:p>
            <a:r>
              <a:rPr lang="en-US" dirty="0"/>
              <a:t>  &lt;span&gt;I'm a word&lt;/span&gt;</a:t>
            </a:r>
          </a:p>
          <a:p>
            <a:r>
              <a:rPr lang="en-US" dirty="0"/>
              <a:t>  &lt;span&gt;I'm a word too.&lt;/span&gt;</a:t>
            </a:r>
          </a:p>
          <a:p>
            <a:r>
              <a:rPr lang="en-US" dirty="0"/>
              <a:t>&lt;/body&gt;</a:t>
            </a:r>
          </a:p>
          <a:p>
            <a:endParaRPr lang="en-US" dirty="0"/>
          </a:p>
        </p:txBody>
      </p:sp>
    </p:spTree>
    <p:extLst>
      <p:ext uri="{BB962C8B-B14F-4D97-AF65-F5344CB8AC3E}">
        <p14:creationId xmlns:p14="http://schemas.microsoft.com/office/powerpoint/2010/main" val="33284845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Display: Inline-block</a:t>
            </a:r>
          </a:p>
          <a:p>
            <a:r>
              <a:rPr lang="en-US" dirty="0"/>
              <a:t>In some cases, both of the display values may not be enough for better web design. At that point, a third display behavior comes to the rescue and also makes alignment much easier: display: inline-block .</a:t>
            </a:r>
          </a:p>
        </p:txBody>
      </p:sp>
    </p:spTree>
    <p:extLst>
      <p:ext uri="{BB962C8B-B14F-4D97-AF65-F5344CB8AC3E}">
        <p14:creationId xmlns:p14="http://schemas.microsoft.com/office/powerpoint/2010/main" val="3948800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 {</a:t>
            </a:r>
            <a:r>
              <a:rPr lang="en-US" dirty="0"/>
              <a:t/>
            </a:r>
            <a:br>
              <a:rPr lang="en-US" dirty="0"/>
            </a:br>
            <a:r>
              <a:rPr lang="en-US" b="1" dirty="0"/>
              <a:t>display: inline-block;</a:t>
            </a:r>
            <a:r>
              <a:rPr lang="en-US" dirty="0"/>
              <a:t/>
            </a:r>
            <a:br>
              <a:rPr lang="en-US" dirty="0"/>
            </a:br>
            <a:r>
              <a:rPr lang="en-US" dirty="0"/>
              <a:t>height: 100px;</a:t>
            </a:r>
            <a:r>
              <a:rPr lang="en-US" dirty="0"/>
              <a:t/>
            </a:r>
            <a:br>
              <a:rPr lang="en-US" dirty="0"/>
            </a:br>
            <a:r>
              <a:rPr lang="en-US" dirty="0"/>
              <a:t>width: 100px;</a:t>
            </a:r>
            <a:r>
              <a:rPr lang="en-US" dirty="0"/>
              <a:t/>
            </a:r>
            <a:br>
              <a:rPr lang="en-US" dirty="0"/>
            </a:br>
            <a:r>
              <a:rPr lang="en-US" dirty="0"/>
              <a:t>background: red;</a:t>
            </a:r>
            <a:r>
              <a:rPr lang="en-US" dirty="0"/>
              <a:t/>
            </a:r>
            <a:br>
              <a:rPr lang="en-US" dirty="0"/>
            </a:br>
            <a:r>
              <a:rPr lang="en-US" dirty="0"/>
              <a:t>color: white;</a:t>
            </a:r>
            <a:r>
              <a:rPr lang="en-US" dirty="0"/>
              <a:t/>
            </a:r>
            <a:br>
              <a:rPr lang="en-US" dirty="0"/>
            </a:br>
            <a:r>
              <a:rPr lang="en-US" dirty="0"/>
              <a:t>}</a:t>
            </a:r>
            <a:endParaRPr lang="en-US" dirty="0"/>
          </a:p>
        </p:txBody>
      </p:sp>
      <p:pic>
        <p:nvPicPr>
          <p:cNvPr id="4" name="Picture 3"/>
          <p:cNvPicPr>
            <a:picLocks noChangeAspect="1"/>
          </p:cNvPicPr>
          <p:nvPr/>
        </p:nvPicPr>
        <p:blipFill>
          <a:blip r:embed="rId2"/>
          <a:stretch>
            <a:fillRect/>
          </a:stretch>
        </p:blipFill>
        <p:spPr>
          <a:xfrm>
            <a:off x="5794375" y="2603006"/>
            <a:ext cx="3143250" cy="1533525"/>
          </a:xfrm>
          <a:prstGeom prst="rect">
            <a:avLst/>
          </a:prstGeom>
        </p:spPr>
      </p:pic>
    </p:spTree>
    <p:extLst>
      <p:ext uri="{BB962C8B-B14F-4D97-AF65-F5344CB8AC3E}">
        <p14:creationId xmlns:p14="http://schemas.microsoft.com/office/powerpoint/2010/main" val="1393158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CSS position property defines, as the name says, how the element is positioned on the web page.</a:t>
            </a:r>
          </a:p>
          <a:p>
            <a:endParaRPr lang="en-US" dirty="0"/>
          </a:p>
          <a:p>
            <a:r>
              <a:rPr lang="en-US" dirty="0"/>
              <a:t>If you are interested in reading about the font properties, articles about the relative font size and CSS columns might be of interest. </a:t>
            </a:r>
          </a:p>
          <a:p>
            <a:endParaRPr lang="en-US" dirty="0"/>
          </a:p>
          <a:p>
            <a:r>
              <a:rPr lang="en-US" dirty="0"/>
              <a:t>So, there are several types of positioning: static, relative, absolute, fixed, sticky, initial, and inherit. First of all, let's explain what all of these types mean.</a:t>
            </a:r>
          </a:p>
          <a:p>
            <a:endParaRPr lang="en-US" dirty="0"/>
          </a:p>
        </p:txBody>
      </p:sp>
    </p:spTree>
    <p:extLst>
      <p:ext uri="{BB962C8B-B14F-4D97-AF65-F5344CB8AC3E}">
        <p14:creationId xmlns:p14="http://schemas.microsoft.com/office/powerpoint/2010/main" val="4114556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endParaRPr lang="en-US" dirty="0"/>
          </a:p>
          <a:p>
            <a:r>
              <a:rPr lang="en-US" dirty="0"/>
              <a:t>Static - this is the default value, all elements are in order as they appear in the document.</a:t>
            </a:r>
          </a:p>
          <a:p>
            <a:r>
              <a:rPr lang="en-US" dirty="0"/>
              <a:t>Relative - the element is positioned relative to its normal position.</a:t>
            </a:r>
          </a:p>
          <a:p>
            <a:r>
              <a:rPr lang="en-US" dirty="0"/>
              <a:t>Absolute - the element is positioned absolutely to its first positioned parent.</a:t>
            </a:r>
          </a:p>
          <a:p>
            <a:r>
              <a:rPr lang="en-US" dirty="0"/>
              <a:t>Fixed - the element is positioned related to the browser window.</a:t>
            </a:r>
          </a:p>
          <a:p>
            <a:r>
              <a:rPr lang="en-US" dirty="0"/>
              <a:t>Sticky - the element is positioned based on the user's scroll position.</a:t>
            </a:r>
          </a:p>
        </p:txBody>
      </p:sp>
    </p:spTree>
    <p:extLst>
      <p:ext uri="{BB962C8B-B14F-4D97-AF65-F5344CB8AC3E}">
        <p14:creationId xmlns:p14="http://schemas.microsoft.com/office/powerpoint/2010/main" val="1960102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What Is Relative Positioning?</a:t>
            </a:r>
          </a:p>
          <a:p>
            <a:r>
              <a:rPr lang="en-US" dirty="0"/>
              <a:t>When you set the position </a:t>
            </a:r>
            <a:r>
              <a:rPr lang="en-US" i="1" dirty="0"/>
              <a:t>relative to an element</a:t>
            </a:r>
            <a:r>
              <a:rPr lang="en-US" dirty="0"/>
              <a:t>, without adding any other positioning attributes (top, bottom, right, left) </a:t>
            </a:r>
            <a:r>
              <a:rPr lang="en-US" b="1" dirty="0"/>
              <a:t>nothing will happen</a:t>
            </a:r>
            <a:r>
              <a:rPr lang="en-US" dirty="0"/>
              <a:t>. When you add an additional position, such as left: 20px the element will move 20px to the right from its normal position. Here, you can see that </a:t>
            </a:r>
            <a:r>
              <a:rPr lang="en-US" b="1" dirty="0"/>
              <a:t>this element is relative to itself</a:t>
            </a:r>
            <a:r>
              <a:rPr lang="en-US" dirty="0"/>
              <a:t>. When the element moves, no other element on the layout will be affected.</a:t>
            </a:r>
          </a:p>
          <a:p>
            <a:endParaRPr lang="en-US" dirty="0"/>
          </a:p>
        </p:txBody>
      </p:sp>
    </p:spTree>
    <p:extLst>
      <p:ext uri="{BB962C8B-B14F-4D97-AF65-F5344CB8AC3E}">
        <p14:creationId xmlns:p14="http://schemas.microsoft.com/office/powerpoint/2010/main" val="4215681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this example, you will see how the relatively positioned element moves when its attributes are changed. The first element moves to the </a:t>
            </a:r>
            <a:r>
              <a:rPr lang="en-US" b="1" dirty="0"/>
              <a:t>left</a:t>
            </a:r>
            <a:r>
              <a:rPr lang="en-US" dirty="0"/>
              <a:t> and </a:t>
            </a:r>
            <a:r>
              <a:rPr lang="en-US" b="1" dirty="0"/>
              <a:t>top</a:t>
            </a:r>
            <a:r>
              <a:rPr lang="en-US" dirty="0"/>
              <a:t> from its normal position, while </a:t>
            </a:r>
            <a:r>
              <a:rPr lang="en-US" b="1" dirty="0"/>
              <a:t>the second element stays in the same place</a:t>
            </a:r>
            <a:r>
              <a:rPr lang="en-US" dirty="0"/>
              <a:t> because none of the additional positioning attributes were changed.</a:t>
            </a:r>
            <a:endParaRPr lang="en-US" dirty="0"/>
          </a:p>
        </p:txBody>
      </p:sp>
    </p:spTree>
    <p:extLst>
      <p:ext uri="{BB962C8B-B14F-4D97-AF65-F5344CB8AC3E}">
        <p14:creationId xmlns:p14="http://schemas.microsoft.com/office/powerpoint/2010/main" val="4011794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HTML</a:t>
            </a:r>
          </a:p>
          <a:p>
            <a:r>
              <a:rPr lang="en-US" dirty="0"/>
              <a:t>1</a:t>
            </a:r>
          </a:p>
          <a:p>
            <a:r>
              <a:rPr lang="en-US" dirty="0"/>
              <a:t>&lt;div id="</a:t>
            </a:r>
            <a:r>
              <a:rPr lang="en-US" dirty="0" err="1"/>
              <a:t>first_element</a:t>
            </a:r>
            <a:r>
              <a:rPr lang="en-US" dirty="0"/>
              <a:t>"&gt;First element&lt;/div&gt; </a:t>
            </a:r>
          </a:p>
          <a:p>
            <a:r>
              <a:rPr lang="en-US" dirty="0"/>
              <a:t>2</a:t>
            </a:r>
          </a:p>
          <a:p>
            <a:r>
              <a:rPr lang="en-US" dirty="0"/>
              <a:t>&lt;div id="</a:t>
            </a:r>
            <a:r>
              <a:rPr lang="en-US" dirty="0" err="1"/>
              <a:t>second_element</a:t>
            </a:r>
            <a:r>
              <a:rPr lang="en-US" dirty="0"/>
              <a:t>"&gt;Second element&lt;/div&gt; </a:t>
            </a:r>
          </a:p>
        </p:txBody>
      </p:sp>
    </p:spTree>
    <p:extLst>
      <p:ext uri="{BB962C8B-B14F-4D97-AF65-F5344CB8AC3E}">
        <p14:creationId xmlns:p14="http://schemas.microsoft.com/office/powerpoint/2010/main" val="1696053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dirty="0"/>
              <a:t>CSS</a:t>
            </a:r>
          </a:p>
          <a:p>
            <a:endParaRPr lang="en-US" dirty="0"/>
          </a:p>
          <a:p>
            <a:r>
              <a:rPr lang="en-US" dirty="0"/>
              <a:t>#</a:t>
            </a:r>
            <a:r>
              <a:rPr lang="en-US" dirty="0" err="1"/>
              <a:t>first_element</a:t>
            </a:r>
            <a:r>
              <a:rPr lang="en-US" dirty="0"/>
              <a:t> { </a:t>
            </a:r>
          </a:p>
          <a:p>
            <a:pPr marL="0" indent="0">
              <a:buNone/>
            </a:pPr>
            <a:r>
              <a:rPr lang="en-US" dirty="0" smtClean="0"/>
              <a:t>position</a:t>
            </a:r>
            <a:r>
              <a:rPr lang="en-US" dirty="0"/>
              <a:t>: relative; </a:t>
            </a:r>
          </a:p>
          <a:p>
            <a:r>
              <a:rPr lang="en-US" dirty="0"/>
              <a:t>  left: 30px; </a:t>
            </a:r>
          </a:p>
          <a:p>
            <a:r>
              <a:rPr lang="en-US" dirty="0"/>
              <a:t>  top: 70px; </a:t>
            </a:r>
          </a:p>
          <a:p>
            <a:r>
              <a:rPr lang="en-US" dirty="0"/>
              <a:t>  width: 500px; </a:t>
            </a:r>
          </a:p>
          <a:p>
            <a:r>
              <a:rPr lang="en-US" dirty="0"/>
              <a:t>  background-color: #</a:t>
            </a:r>
            <a:r>
              <a:rPr lang="en-US" dirty="0" err="1"/>
              <a:t>fafafa</a:t>
            </a:r>
            <a:r>
              <a:rPr lang="en-US" dirty="0"/>
              <a:t>; </a:t>
            </a:r>
          </a:p>
          <a:p>
            <a:r>
              <a:rPr lang="en-US" dirty="0"/>
              <a:t>  border: solid 3px #ff7347; </a:t>
            </a:r>
          </a:p>
          <a:p>
            <a:r>
              <a:rPr lang="en-US" dirty="0"/>
              <a:t>  font-size: 24px; </a:t>
            </a:r>
          </a:p>
          <a:p>
            <a:r>
              <a:rPr lang="en-US" dirty="0"/>
              <a:t>  text-align: center; </a:t>
            </a:r>
          </a:p>
          <a:p>
            <a:r>
              <a:rPr lang="en-US" dirty="0"/>
              <a:t>} </a:t>
            </a:r>
          </a:p>
          <a:p>
            <a:endParaRPr lang="en-US" dirty="0"/>
          </a:p>
          <a:p>
            <a:r>
              <a:rPr lang="en-US" dirty="0" smtClean="0"/>
              <a:t>​</a:t>
            </a:r>
            <a:endParaRPr lang="en-US" dirty="0"/>
          </a:p>
        </p:txBody>
      </p:sp>
    </p:spTree>
    <p:extLst>
      <p:ext uri="{BB962C8B-B14F-4D97-AF65-F5344CB8AC3E}">
        <p14:creationId xmlns:p14="http://schemas.microsoft.com/office/powerpoint/2010/main" val="693446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smtClean="0"/>
              <a:t>#second_element { </a:t>
            </a:r>
          </a:p>
          <a:p>
            <a:endParaRPr lang="en-US" smtClean="0"/>
          </a:p>
          <a:p>
            <a:r>
              <a:rPr lang="en-US" smtClean="0"/>
              <a:t>  position: relative; </a:t>
            </a:r>
          </a:p>
          <a:p>
            <a:r>
              <a:rPr lang="en-US" smtClean="0"/>
              <a:t>  width: 500px; </a:t>
            </a:r>
          </a:p>
          <a:p>
            <a:r>
              <a:rPr lang="en-US" smtClean="0"/>
              <a:t>  background-color: #fafafa; </a:t>
            </a:r>
          </a:p>
          <a:p>
            <a:r>
              <a:rPr lang="en-US" smtClean="0"/>
              <a:t>  border: solid 3px #ff7347; </a:t>
            </a:r>
          </a:p>
          <a:p>
            <a:r>
              <a:rPr lang="en-US" smtClean="0"/>
              <a:t>  font-size: 24px; </a:t>
            </a:r>
          </a:p>
          <a:p>
            <a:r>
              <a:rPr lang="en-US" smtClean="0"/>
              <a:t>  text-align: center; </a:t>
            </a:r>
          </a:p>
          <a:p>
            <a:r>
              <a:rPr lang="en-US" smtClean="0"/>
              <a:t>} </a:t>
            </a:r>
          </a:p>
          <a:p>
            <a:endParaRPr lang="en-US" dirty="0"/>
          </a:p>
        </p:txBody>
      </p:sp>
    </p:spTree>
    <p:extLst>
      <p:ext uri="{BB962C8B-B14F-4D97-AF65-F5344CB8AC3E}">
        <p14:creationId xmlns:p14="http://schemas.microsoft.com/office/powerpoint/2010/main" val="589857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931987" y="2336873"/>
            <a:ext cx="5762625" cy="3114675"/>
          </a:xfrm>
          <a:prstGeom prst="rect">
            <a:avLst/>
          </a:prstGeom>
        </p:spPr>
      </p:pic>
    </p:spTree>
    <p:extLst>
      <p:ext uri="{BB962C8B-B14F-4D97-AF65-F5344CB8AC3E}">
        <p14:creationId xmlns:p14="http://schemas.microsoft.com/office/powerpoint/2010/main" val="3879184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dirty="0"/>
              <a:t>What Is Absolute Positioning?</a:t>
            </a:r>
          </a:p>
          <a:p>
            <a:r>
              <a:rPr lang="en-US" dirty="0"/>
              <a:t>This type of positioning allows you to place your element precisely where you want it.</a:t>
            </a:r>
          </a:p>
          <a:p>
            <a:endParaRPr lang="en-US" dirty="0"/>
          </a:p>
          <a:p>
            <a:r>
              <a:rPr lang="en-US" dirty="0"/>
              <a:t>The positioning is done relative to the first relatively (or absolutely) positioned parent element. In the case when there is no positioned parent element, it will be positioned related directly to the HTML element (the page itself).</a:t>
            </a:r>
          </a:p>
          <a:p>
            <a:endParaRPr lang="en-US" dirty="0"/>
          </a:p>
          <a:p>
            <a:r>
              <a:rPr lang="en-US" dirty="0"/>
              <a:t>An important thing to keep in mind while using absolute positioning is to make sure it is not overused, otherwise, it can lead to a maintenance nightmare.</a:t>
            </a:r>
          </a:p>
          <a:p>
            <a:endParaRPr lang="en-US" dirty="0"/>
          </a:p>
          <a:p>
            <a:r>
              <a:rPr lang="en-US" dirty="0"/>
              <a:t>The next thing, yet again, is to show an example.</a:t>
            </a:r>
          </a:p>
          <a:p>
            <a:endParaRPr lang="en-US" dirty="0"/>
          </a:p>
          <a:p>
            <a:r>
              <a:rPr lang="en-US" dirty="0"/>
              <a:t>In the example, the parent element has the position set to relative. Now, when you set the position of the child element to absolute, any additional positioning will be done relative to the parent element. The child element moves relative to the top of the parent element by 100px and right of the parent element by 40px.</a:t>
            </a:r>
          </a:p>
        </p:txBody>
      </p:sp>
    </p:spTree>
    <p:extLst>
      <p:ext uri="{BB962C8B-B14F-4D97-AF65-F5344CB8AC3E}">
        <p14:creationId xmlns:p14="http://schemas.microsoft.com/office/powerpoint/2010/main" val="2220663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HTML</a:t>
            </a:r>
          </a:p>
          <a:p>
            <a:r>
              <a:rPr lang="en-US" dirty="0"/>
              <a:t>&lt;div id=”parent”&gt;</a:t>
            </a:r>
          </a:p>
          <a:p>
            <a:r>
              <a:rPr lang="en-US" dirty="0"/>
              <a:t>  &lt;div id=”child”&gt;&lt;/div&gt;</a:t>
            </a:r>
          </a:p>
          <a:p>
            <a:r>
              <a:rPr lang="en-US" dirty="0"/>
              <a:t>&lt;/div&gt;</a:t>
            </a:r>
          </a:p>
        </p:txBody>
      </p:sp>
    </p:spTree>
    <p:extLst>
      <p:ext uri="{BB962C8B-B14F-4D97-AF65-F5344CB8AC3E}">
        <p14:creationId xmlns:p14="http://schemas.microsoft.com/office/powerpoint/2010/main" val="1827323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CSS</a:t>
            </a:r>
          </a:p>
          <a:p>
            <a:endParaRPr lang="en-US" dirty="0"/>
          </a:p>
          <a:p>
            <a:r>
              <a:rPr lang="en-US" dirty="0"/>
              <a:t>#parent { </a:t>
            </a:r>
          </a:p>
          <a:p>
            <a:r>
              <a:rPr lang="en-US" dirty="0"/>
              <a:t>  position: relative; </a:t>
            </a:r>
          </a:p>
          <a:p>
            <a:r>
              <a:rPr lang="en-US" dirty="0"/>
              <a:t>  width: 500px; </a:t>
            </a:r>
          </a:p>
          <a:p>
            <a:r>
              <a:rPr lang="en-US" dirty="0"/>
              <a:t>  height: 400px; </a:t>
            </a:r>
          </a:p>
          <a:p>
            <a:r>
              <a:rPr lang="en-US" dirty="0"/>
              <a:t>  background-color: #</a:t>
            </a:r>
            <a:r>
              <a:rPr lang="en-US" dirty="0" err="1"/>
              <a:t>fafafa</a:t>
            </a:r>
            <a:r>
              <a:rPr lang="en-US" dirty="0"/>
              <a:t>; </a:t>
            </a:r>
          </a:p>
          <a:p>
            <a:r>
              <a:rPr lang="en-US" dirty="0"/>
              <a:t>  border: solid 3px #9e70ba; </a:t>
            </a:r>
          </a:p>
          <a:p>
            <a:r>
              <a:rPr lang="en-US" dirty="0"/>
              <a:t>  font-size: 24px; </a:t>
            </a:r>
          </a:p>
          <a:p>
            <a:r>
              <a:rPr lang="en-US" dirty="0"/>
              <a:t>  text-align: center; </a:t>
            </a:r>
          </a:p>
          <a:p>
            <a:r>
              <a:rPr lang="en-US" dirty="0"/>
              <a:t>} </a:t>
            </a:r>
          </a:p>
          <a:p>
            <a:r>
              <a:rPr lang="en-US" dirty="0" smtClean="0"/>
              <a:t>​</a:t>
            </a:r>
            <a:endParaRPr lang="en-US" dirty="0"/>
          </a:p>
        </p:txBody>
      </p:sp>
    </p:spTree>
    <p:extLst>
      <p:ext uri="{BB962C8B-B14F-4D97-AF65-F5344CB8AC3E}">
        <p14:creationId xmlns:p14="http://schemas.microsoft.com/office/powerpoint/2010/main" val="1654236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#child { </a:t>
            </a:r>
          </a:p>
          <a:p>
            <a:r>
              <a:rPr lang="en-US" dirty="0"/>
              <a:t>  position: absolute; </a:t>
            </a:r>
          </a:p>
          <a:p>
            <a:r>
              <a:rPr lang="en-US" dirty="0"/>
              <a:t>  right: 40px; </a:t>
            </a:r>
          </a:p>
          <a:p>
            <a:r>
              <a:rPr lang="en-US" dirty="0"/>
              <a:t>  top: 100px; </a:t>
            </a:r>
          </a:p>
          <a:p>
            <a:r>
              <a:rPr lang="en-US" dirty="0"/>
              <a:t>  width: 200px; </a:t>
            </a:r>
          </a:p>
          <a:p>
            <a:r>
              <a:rPr lang="en-US" dirty="0"/>
              <a:t>  height: 200px; </a:t>
            </a:r>
          </a:p>
          <a:p>
            <a:r>
              <a:rPr lang="en-US" dirty="0"/>
              <a:t>  background-color: #</a:t>
            </a:r>
            <a:r>
              <a:rPr lang="en-US" dirty="0" err="1"/>
              <a:t>fafafa</a:t>
            </a:r>
            <a:r>
              <a:rPr lang="en-US" dirty="0"/>
              <a:t>; </a:t>
            </a:r>
          </a:p>
          <a:p>
            <a:r>
              <a:rPr lang="en-US" dirty="0"/>
              <a:t>  border: solid 3px #78e382; </a:t>
            </a:r>
          </a:p>
          <a:p>
            <a:r>
              <a:rPr lang="en-US" dirty="0"/>
              <a:t>  font-size: 24px; </a:t>
            </a:r>
          </a:p>
          <a:p>
            <a:r>
              <a:rPr lang="en-US" dirty="0"/>
              <a:t>  text-align: center; </a:t>
            </a:r>
          </a:p>
          <a:p>
            <a:r>
              <a:rPr lang="en-US" dirty="0"/>
              <a:t>} </a:t>
            </a:r>
          </a:p>
          <a:p>
            <a:endParaRPr lang="en-US" dirty="0"/>
          </a:p>
        </p:txBody>
      </p:sp>
    </p:spTree>
    <p:extLst>
      <p:ext uri="{BB962C8B-B14F-4D97-AF65-F5344CB8AC3E}">
        <p14:creationId xmlns:p14="http://schemas.microsoft.com/office/powerpoint/2010/main" val="1417519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865312" y="1733550"/>
            <a:ext cx="5133975" cy="4000500"/>
          </a:xfrm>
          <a:prstGeom prst="rect">
            <a:avLst/>
          </a:prstGeom>
        </p:spPr>
      </p:pic>
    </p:spTree>
    <p:extLst>
      <p:ext uri="{BB962C8B-B14F-4D97-AF65-F5344CB8AC3E}">
        <p14:creationId xmlns:p14="http://schemas.microsoft.com/office/powerpoint/2010/main" val="1710008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float property is used to decide which element floats and which doesn't.</a:t>
            </a:r>
          </a:p>
          <a:p>
            <a:endParaRPr lang="en-US" dirty="0"/>
          </a:p>
          <a:p>
            <a:r>
              <a:rPr lang="en-US" dirty="0"/>
              <a:t>It's value can either be left or right. An element with float style property floats in the extreme left or in the extreme right side of the parent element.</a:t>
            </a:r>
          </a:p>
          <a:p>
            <a:endParaRPr lang="en-US" dirty="0"/>
          </a:p>
          <a:p>
            <a:r>
              <a:rPr lang="en-US" dirty="0"/>
              <a:t>An element doesn't take the complete width like a block level element, when float style property is applied, rather it allows its siblings to surround it.</a:t>
            </a:r>
          </a:p>
        </p:txBody>
      </p:sp>
    </p:spTree>
    <p:extLst>
      <p:ext uri="{BB962C8B-B14F-4D97-AF65-F5344CB8AC3E}">
        <p14:creationId xmlns:p14="http://schemas.microsoft.com/office/powerpoint/2010/main" val="1445364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 {</a:t>
            </a:r>
          </a:p>
          <a:p>
            <a:r>
              <a:rPr lang="en-US" dirty="0"/>
              <a:t>    float: left | right;</a:t>
            </a:r>
          </a:p>
          <a:p>
            <a:r>
              <a:rPr lang="en-US" dirty="0"/>
              <a:t>}</a:t>
            </a:r>
          </a:p>
        </p:txBody>
      </p:sp>
    </p:spTree>
    <p:extLst>
      <p:ext uri="{BB962C8B-B14F-4D97-AF65-F5344CB8AC3E}">
        <p14:creationId xmlns:p14="http://schemas.microsoft.com/office/powerpoint/2010/main" val="625614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clear property</a:t>
            </a:r>
          </a:p>
          <a:p>
            <a:r>
              <a:rPr lang="en-US" dirty="0"/>
              <a:t>Whenever we use float property on any element, the elements below it try to fill up the space emptied by the float element, as the float element either moves to the left or the right boundary.</a:t>
            </a:r>
          </a:p>
          <a:p>
            <a:endParaRPr lang="en-US" dirty="0"/>
          </a:p>
          <a:p>
            <a:r>
              <a:rPr lang="en-US" dirty="0"/>
              <a:t>This </a:t>
            </a:r>
            <a:r>
              <a:rPr lang="en-US" dirty="0" err="1"/>
              <a:t>behaviour</a:t>
            </a:r>
            <a:r>
              <a:rPr lang="en-US" dirty="0"/>
              <a:t> can distort your webpage design. To avoid the elements below the floating element to surround it, clear property is used.</a:t>
            </a:r>
          </a:p>
          <a:p>
            <a:endParaRPr lang="en-US" dirty="0"/>
          </a:p>
          <a:p>
            <a:r>
              <a:rPr lang="en-US" dirty="0"/>
              <a:t>By </a:t>
            </a:r>
            <a:r>
              <a:rPr lang="en-US" dirty="0" err="1"/>
              <a:t>prodiving</a:t>
            </a:r>
            <a:r>
              <a:rPr lang="en-US" dirty="0"/>
              <a:t> </a:t>
            </a:r>
            <a:r>
              <a:rPr lang="en-US" dirty="0" err="1"/>
              <a:t>clear:right</a:t>
            </a:r>
            <a:r>
              <a:rPr lang="en-US" dirty="0"/>
              <a:t> style to the element below the floating element, we inform the element, to stay clear off the element which is floating right. Similarly </a:t>
            </a:r>
            <a:r>
              <a:rPr lang="en-US" dirty="0" err="1"/>
              <a:t>clear:left</a:t>
            </a:r>
            <a:r>
              <a:rPr lang="en-US" dirty="0"/>
              <a:t>, stays clear off the floating left element. And </a:t>
            </a:r>
            <a:r>
              <a:rPr lang="en-US" dirty="0" err="1"/>
              <a:t>clear:both</a:t>
            </a:r>
            <a:r>
              <a:rPr lang="en-US" dirty="0"/>
              <a:t> works for both.</a:t>
            </a:r>
          </a:p>
        </p:txBody>
      </p:sp>
    </p:spTree>
    <p:extLst>
      <p:ext uri="{BB962C8B-B14F-4D97-AF65-F5344CB8AC3E}">
        <p14:creationId xmlns:p14="http://schemas.microsoft.com/office/powerpoint/2010/main" val="8456578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a:t>img</a:t>
            </a:r>
            <a:r>
              <a:rPr lang="en-US" dirty="0"/>
              <a:t> {</a:t>
            </a:r>
          </a:p>
          <a:p>
            <a:r>
              <a:rPr lang="en-US" dirty="0"/>
              <a:t>  float: right;</a:t>
            </a:r>
          </a:p>
          <a:p>
            <a:r>
              <a:rPr lang="en-US" dirty="0"/>
              <a:t>  height: 150px;</a:t>
            </a:r>
          </a:p>
          <a:p>
            <a:r>
              <a:rPr lang="en-US" dirty="0"/>
              <a:t>}</a:t>
            </a:r>
          </a:p>
        </p:txBody>
      </p:sp>
    </p:spTree>
    <p:extLst>
      <p:ext uri="{BB962C8B-B14F-4D97-AF65-F5344CB8AC3E}">
        <p14:creationId xmlns:p14="http://schemas.microsoft.com/office/powerpoint/2010/main" val="3310236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&lt;h2&gt;CSS Float Property: Right Value&lt;/h2&gt;</a:t>
            </a:r>
          </a:p>
          <a:p>
            <a:r>
              <a:rPr lang="en-US" dirty="0"/>
              <a:t>&lt;p&gt;&lt;</a:t>
            </a:r>
            <a:r>
              <a:rPr lang="en-US" dirty="0" err="1"/>
              <a:t>img</a:t>
            </a:r>
            <a:r>
              <a:rPr lang="en-US" dirty="0"/>
              <a:t> </a:t>
            </a:r>
            <a:r>
              <a:rPr lang="en-US" dirty="0" err="1"/>
              <a:t>src</a:t>
            </a:r>
            <a:r>
              <a:rPr lang="en-US" dirty="0"/>
              <a:t>='https://images.unsplash.com/photo-1613535449480-bb56b88d1886?crop=</a:t>
            </a:r>
            <a:r>
              <a:rPr lang="en-US" dirty="0" err="1"/>
              <a:t>entropy&amp;cs</a:t>
            </a:r>
            <a:r>
              <a:rPr lang="en-US" dirty="0"/>
              <a:t>=</a:t>
            </a:r>
            <a:r>
              <a:rPr lang="en-US" dirty="0" err="1"/>
              <a:t>tinysrgb&amp;fit</a:t>
            </a:r>
            <a:r>
              <a:rPr lang="en-US" dirty="0"/>
              <a:t>=</a:t>
            </a:r>
            <a:r>
              <a:rPr lang="en-US" dirty="0" err="1"/>
              <a:t>max&amp;fm</a:t>
            </a:r>
            <a:r>
              <a:rPr lang="en-US" dirty="0"/>
              <a:t>=</a:t>
            </a:r>
            <a:r>
              <a:rPr lang="en-US" dirty="0" err="1"/>
              <a:t>jpg&amp;ixid</a:t>
            </a:r>
            <a:r>
              <a:rPr lang="en-US" dirty="0"/>
              <a:t>=MnwxNDU4OXwwfDF8cmFuZG9tfHx8fHx8fHx8MTYxNzgwNzU4MA&amp;ixlib=rb-1.2.1&amp;q=80&amp;w=400' alt='surfer holding a surfboard walking in the ocean'&gt;In this example, the CSS float property is defined by the right value. That tells the browser two things. The first is that the image floats to the right in the paragraph. The second is that the text in the paragraph wraps around the image. Notice that the CSS includes a type selector to target the image, which is contained in the paragraph.&lt;/p&gt;</a:t>
            </a:r>
          </a:p>
        </p:txBody>
      </p:sp>
    </p:spTree>
    <p:extLst>
      <p:ext uri="{BB962C8B-B14F-4D97-AF65-F5344CB8AC3E}">
        <p14:creationId xmlns:p14="http://schemas.microsoft.com/office/powerpoint/2010/main" val="3415904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The border property is a shorthand syntax in CSS that accepts multiple values for drawing a line around the element it is applied to</a:t>
            </a:r>
            <a:r>
              <a:rPr lang="en-US" dirty="0" smtClean="0"/>
              <a:t>.</a:t>
            </a:r>
          </a:p>
          <a:p>
            <a:endParaRPr lang="en-US" dirty="0"/>
          </a:p>
          <a:p>
            <a:r>
              <a:rPr lang="en-US" dirty="0"/>
              <a:t>.box {</a:t>
            </a:r>
          </a:p>
          <a:p>
            <a:r>
              <a:rPr lang="en-US" dirty="0"/>
              <a:t>  border: 3px solid red;</a:t>
            </a:r>
          </a:p>
          <a:p>
            <a:r>
              <a:rPr lang="en-US" dirty="0"/>
              <a:t>  height: 200px;</a:t>
            </a:r>
          </a:p>
          <a:p>
            <a:r>
              <a:rPr lang="en-US" dirty="0"/>
              <a:t>  width: 200px;</a:t>
            </a:r>
          </a:p>
          <a:p>
            <a:r>
              <a:rPr lang="en-US" dirty="0"/>
              <a:t>}</a:t>
            </a:r>
          </a:p>
        </p:txBody>
      </p:sp>
    </p:spTree>
    <p:extLst>
      <p:ext uri="{BB962C8B-B14F-4D97-AF65-F5344CB8AC3E}">
        <p14:creationId xmlns:p14="http://schemas.microsoft.com/office/powerpoint/2010/main" val="36012689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border</a:t>
            </a:r>
          </a:p>
          <a:p>
            <a:r>
              <a:rPr lang="en-US" dirty="0"/>
              <a:t>The border shorthand CSS property sets an element's border. It sets the values of border-width, border-style, and border-color.</a:t>
            </a:r>
          </a:p>
        </p:txBody>
      </p:sp>
    </p:spTree>
    <p:extLst>
      <p:ext uri="{BB962C8B-B14F-4D97-AF65-F5344CB8AC3E}">
        <p14:creationId xmlns:p14="http://schemas.microsoft.com/office/powerpoint/2010/main" val="336657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484562" y="2233612"/>
            <a:ext cx="3190875" cy="3609975"/>
          </a:xfrm>
          <a:prstGeom prst="rect">
            <a:avLst/>
          </a:prstGeom>
        </p:spPr>
      </p:pic>
    </p:spTree>
    <p:extLst>
      <p:ext uri="{BB962C8B-B14F-4D97-AF65-F5344CB8AC3E}">
        <p14:creationId xmlns:p14="http://schemas.microsoft.com/office/powerpoint/2010/main" val="12428410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border: solid;</a:t>
            </a:r>
          </a:p>
          <a:p>
            <a:r>
              <a:rPr lang="en-US" dirty="0"/>
              <a:t>border: 2px dotted;</a:t>
            </a:r>
          </a:p>
          <a:p>
            <a:r>
              <a:rPr lang="en-US" dirty="0"/>
              <a:t>border: outset #f33;</a:t>
            </a:r>
          </a:p>
          <a:p>
            <a:r>
              <a:rPr lang="en-US" dirty="0"/>
              <a:t>border: medium dashed green;</a:t>
            </a:r>
          </a:p>
          <a:p>
            <a:r>
              <a:rPr lang="en-US" dirty="0"/>
              <a:t>border: inherit;</a:t>
            </a:r>
          </a:p>
          <a:p>
            <a:r>
              <a:rPr lang="en-US" dirty="0"/>
              <a:t>border: initial;</a:t>
            </a:r>
          </a:p>
          <a:p>
            <a:r>
              <a:rPr lang="en-US" dirty="0"/>
              <a:t>border: revert;</a:t>
            </a:r>
          </a:p>
          <a:p>
            <a:r>
              <a:rPr lang="en-US" dirty="0"/>
              <a:t>border: revert-layer;</a:t>
            </a:r>
          </a:p>
          <a:p>
            <a:r>
              <a:rPr lang="en-US" dirty="0"/>
              <a:t>border: unset;</a:t>
            </a:r>
          </a:p>
        </p:txBody>
      </p:sp>
    </p:spTree>
    <p:extLst>
      <p:ext uri="{BB962C8B-B14F-4D97-AF65-F5344CB8AC3E}">
        <p14:creationId xmlns:p14="http://schemas.microsoft.com/office/powerpoint/2010/main" val="31924494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a:t>CSS </a:t>
            </a:r>
            <a:r>
              <a:rPr lang="en-US" b="1" dirty="0"/>
              <a:t>transforms</a:t>
            </a:r>
            <a:r>
              <a:rPr lang="en-US" dirty="0"/>
              <a:t> are a collection of </a:t>
            </a:r>
            <a:r>
              <a:rPr lang="en-US" i="1" dirty="0"/>
              <a:t>functions</a:t>
            </a:r>
            <a:r>
              <a:rPr lang="en-US" dirty="0"/>
              <a:t> that allow to </a:t>
            </a:r>
            <a:r>
              <a:rPr lang="en-US" b="1" dirty="0"/>
              <a:t>shape elements</a:t>
            </a:r>
            <a:r>
              <a:rPr lang="en-US" dirty="0"/>
              <a:t> in particular ways:</a:t>
            </a:r>
          </a:p>
          <a:p>
            <a:pPr fontAlgn="base"/>
            <a:r>
              <a:rPr lang="en-US" b="1" dirty="0"/>
              <a:t>translate</a:t>
            </a:r>
            <a:r>
              <a:rPr lang="en-US" dirty="0"/>
              <a:t>: moves the element along up to 3 axis (</a:t>
            </a:r>
            <a:r>
              <a:rPr lang="en-US" dirty="0" err="1"/>
              <a:t>x,y</a:t>
            </a:r>
            <a:r>
              <a:rPr lang="en-US" dirty="0"/>
              <a:t> and z)</a:t>
            </a:r>
          </a:p>
          <a:p>
            <a:pPr fontAlgn="base"/>
            <a:r>
              <a:rPr lang="en-US" b="1" dirty="0"/>
              <a:t>rotate</a:t>
            </a:r>
            <a:r>
              <a:rPr lang="en-US" dirty="0"/>
              <a:t>: moves the element around a central point</a:t>
            </a:r>
          </a:p>
          <a:p>
            <a:pPr fontAlgn="base"/>
            <a:r>
              <a:rPr lang="en-US" b="1" dirty="0"/>
              <a:t>scale</a:t>
            </a:r>
            <a:r>
              <a:rPr lang="en-US" dirty="0"/>
              <a:t>: resizes the element</a:t>
            </a:r>
          </a:p>
          <a:p>
            <a:pPr fontAlgn="base"/>
            <a:r>
              <a:rPr lang="en-US" b="1" dirty="0"/>
              <a:t>skew</a:t>
            </a:r>
            <a:r>
              <a:rPr lang="en-US" dirty="0"/>
              <a:t>: distorts the element</a:t>
            </a:r>
          </a:p>
          <a:p>
            <a:endParaRPr lang="en-US" dirty="0"/>
          </a:p>
        </p:txBody>
      </p:sp>
    </p:spTree>
    <p:extLst>
      <p:ext uri="{BB962C8B-B14F-4D97-AF65-F5344CB8AC3E}">
        <p14:creationId xmlns:p14="http://schemas.microsoft.com/office/powerpoint/2010/main" val="34816874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transform properties</a:t>
            </a:r>
          </a:p>
          <a:p>
            <a:r>
              <a:rPr lang="en-US" dirty="0"/>
              <a:t>There are 3 CSS transform properties available:</a:t>
            </a:r>
          </a:p>
          <a:p>
            <a:endParaRPr lang="en-US" dirty="0"/>
          </a:p>
          <a:p>
            <a:r>
              <a:rPr lang="en-US" dirty="0"/>
              <a:t>transform defines which transform function to use (translate, rotate, scale…)</a:t>
            </a:r>
          </a:p>
          <a:p>
            <a:r>
              <a:rPr lang="en-US" dirty="0"/>
              <a:t>transform-origin allows to modify the origin point of a transformation (works like background positions)</a:t>
            </a:r>
          </a:p>
          <a:p>
            <a:r>
              <a:rPr lang="en-US" dirty="0"/>
              <a:t>transform-style is for 3d settings</a:t>
            </a:r>
          </a:p>
          <a:p>
            <a:r>
              <a:rPr lang="en-US" dirty="0"/>
              <a:t>Note that unlike background and border, transform is not a shorthand property.</a:t>
            </a:r>
          </a:p>
          <a:p>
            <a:endParaRPr lang="en-US" dirty="0"/>
          </a:p>
          <a:p>
            <a:r>
              <a:rPr lang="en-US" dirty="0"/>
              <a:t>We’ll only use transform here.</a:t>
            </a:r>
          </a:p>
        </p:txBody>
      </p:sp>
    </p:spTree>
    <p:extLst>
      <p:ext uri="{BB962C8B-B14F-4D97-AF65-F5344CB8AC3E}">
        <p14:creationId xmlns:p14="http://schemas.microsoft.com/office/powerpoint/2010/main" val="2085533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CSS transform property changes the shape, position, and orientation of page elements. Values of the CSS transform property are functions that transform the target element, including translate(), scale(), and rotate().</a:t>
            </a:r>
            <a:endParaRPr lang="en-US" dirty="0"/>
          </a:p>
        </p:txBody>
      </p:sp>
    </p:spTree>
    <p:extLst>
      <p:ext uri="{BB962C8B-B14F-4D97-AF65-F5344CB8AC3E}">
        <p14:creationId xmlns:p14="http://schemas.microsoft.com/office/powerpoint/2010/main" val="10515482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fontAlgn="base"/>
            <a:r>
              <a:rPr lang="en-US" b="1" dirty="0"/>
              <a:t>translate() Method</a:t>
            </a:r>
          </a:p>
          <a:p>
            <a:pPr fontAlgn="base"/>
            <a:r>
              <a:rPr lang="en-US" dirty="0"/>
              <a:t>The CSS translate() method alters the position of an element along the x-axis (horizontally) or along the y-axis (vertically) based on the parameters assigned.</a:t>
            </a:r>
          </a:p>
          <a:p>
            <a:pPr fontAlgn="base"/>
            <a:r>
              <a:rPr lang="en-US" b="1" dirty="0"/>
              <a:t>Syntax</a:t>
            </a:r>
            <a:endParaRPr lang="en-US" dirty="0"/>
          </a:p>
          <a:p>
            <a:pPr fontAlgn="base"/>
            <a:r>
              <a:rPr lang="en-US" dirty="0"/>
              <a:t>transform: translate (</a:t>
            </a:r>
            <a:r>
              <a:rPr lang="en-US" dirty="0" err="1"/>
              <a:t>tx</a:t>
            </a:r>
            <a:r>
              <a:rPr lang="en-US" dirty="0"/>
              <a:t>, ty)</a:t>
            </a:r>
          </a:p>
          <a:p>
            <a:pPr fontAlgn="base"/>
            <a:r>
              <a:rPr lang="en-US" dirty="0"/>
              <a:t>Or,</a:t>
            </a:r>
          </a:p>
          <a:p>
            <a:pPr fontAlgn="base"/>
            <a:r>
              <a:rPr lang="en-US" dirty="0"/>
              <a:t>transform: translate (</a:t>
            </a:r>
            <a:r>
              <a:rPr lang="en-US" dirty="0" err="1"/>
              <a:t>tx</a:t>
            </a:r>
            <a:r>
              <a:rPr lang="en-US" dirty="0"/>
              <a:t>)</a:t>
            </a:r>
          </a:p>
          <a:p>
            <a:pPr fontAlgn="base"/>
            <a:r>
              <a:rPr lang="en-US" dirty="0"/>
              <a:t>The </a:t>
            </a:r>
            <a:r>
              <a:rPr lang="en-US" dirty="0" err="1"/>
              <a:t>tx</a:t>
            </a:r>
            <a:r>
              <a:rPr lang="en-US" dirty="0"/>
              <a:t>, and ty refer to the x, and y axes.</a:t>
            </a:r>
          </a:p>
          <a:p>
            <a:endParaRPr lang="en-US" dirty="0"/>
          </a:p>
        </p:txBody>
      </p:sp>
    </p:spTree>
    <p:extLst>
      <p:ext uri="{BB962C8B-B14F-4D97-AF65-F5344CB8AC3E}">
        <p14:creationId xmlns:p14="http://schemas.microsoft.com/office/powerpoint/2010/main" val="14901369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b="1" dirty="0" err="1"/>
              <a:t>xample</a:t>
            </a:r>
            <a:r>
              <a:rPr lang="en-US" b="1" dirty="0"/>
              <a:t/>
            </a:r>
            <a:br>
              <a:rPr lang="en-US" b="1" dirty="0"/>
            </a:br>
            <a:r>
              <a:rPr lang="en-US" dirty="0"/>
              <a:t>Suppose you want to move an image to a certain position using the translate() method then follow the example below.</a:t>
            </a:r>
          </a:p>
          <a:p>
            <a:pPr fontAlgn="base"/>
            <a:r>
              <a:rPr lang="en-US" b="1" dirty="0"/>
              <a:t>HTML</a:t>
            </a:r>
            <a:endParaRPr lang="en-US" dirty="0"/>
          </a:p>
          <a:p>
            <a:pPr fontAlgn="base"/>
            <a:r>
              <a:rPr lang="en-US" dirty="0"/>
              <a:t>&lt;</a:t>
            </a:r>
            <a:r>
              <a:rPr lang="en-US" dirty="0" err="1">
                <a:hlinkClick r:id="rId2"/>
              </a:rPr>
              <a:t>img</a:t>
            </a:r>
            <a:r>
              <a:rPr lang="en-US" dirty="0"/>
              <a:t> </a:t>
            </a:r>
            <a:r>
              <a:rPr lang="en-US" dirty="0" err="1"/>
              <a:t>src</a:t>
            </a:r>
            <a:r>
              <a:rPr lang="en-US" dirty="0"/>
              <a:t>="dog.jpg" alt="Dog"&gt;</a:t>
            </a:r>
          </a:p>
          <a:p>
            <a:pPr fontAlgn="base"/>
            <a:r>
              <a:rPr lang="en-US" b="1" dirty="0"/>
              <a:t>CSS</a:t>
            </a:r>
            <a:endParaRPr lang="en-US" dirty="0"/>
          </a:p>
          <a:p>
            <a:pPr fontAlgn="base"/>
            <a:r>
              <a:rPr lang="en-US" dirty="0" err="1"/>
              <a:t>img</a:t>
            </a:r>
            <a:r>
              <a:rPr lang="en-US" dirty="0"/>
              <a:t> {</a:t>
            </a:r>
            <a:br>
              <a:rPr lang="en-US" dirty="0"/>
            </a:br>
            <a:r>
              <a:rPr lang="en-US" dirty="0"/>
              <a:t>    width: 250px;</a:t>
            </a:r>
            <a:br>
              <a:rPr lang="en-US" dirty="0"/>
            </a:br>
            <a:r>
              <a:rPr lang="en-US" dirty="0"/>
              <a:t>    height: 100px;</a:t>
            </a:r>
            <a:br>
              <a:rPr lang="en-US" dirty="0"/>
            </a:br>
            <a:r>
              <a:rPr lang="en-US" dirty="0"/>
              <a:t>    transform: translate(50px, 50px);</a:t>
            </a:r>
            <a:br>
              <a:rPr lang="en-US" dirty="0"/>
            </a:br>
            <a:r>
              <a:rPr lang="en-US" dirty="0"/>
              <a:t>}</a:t>
            </a:r>
          </a:p>
          <a:p>
            <a:endParaRPr lang="en-US" dirty="0"/>
          </a:p>
        </p:txBody>
      </p:sp>
    </p:spTree>
    <p:extLst>
      <p:ext uri="{BB962C8B-B14F-4D97-AF65-F5344CB8AC3E}">
        <p14:creationId xmlns:p14="http://schemas.microsoft.com/office/powerpoint/2010/main" val="1997583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rotate() Method</a:t>
            </a:r>
          </a:p>
          <a:p>
            <a:pPr fontAlgn="base"/>
            <a:r>
              <a:rPr lang="en-US" dirty="0"/>
              <a:t>For the purpose of rotating an element clockwise or anti-clockwise based on the degree specified, the rotate() method is used.</a:t>
            </a:r>
          </a:p>
          <a:p>
            <a:pPr fontAlgn="base"/>
            <a:r>
              <a:rPr lang="en-US" b="1" dirty="0"/>
              <a:t>Syntax</a:t>
            </a:r>
            <a:endParaRPr lang="en-US" dirty="0"/>
          </a:p>
          <a:p>
            <a:pPr fontAlgn="base"/>
            <a:r>
              <a:rPr lang="en-US" dirty="0"/>
              <a:t>transform: rotate (degrees)</a:t>
            </a:r>
          </a:p>
          <a:p>
            <a:pPr fontAlgn="base"/>
            <a:r>
              <a:rPr lang="en-US" dirty="0"/>
              <a:t>The degrees parameter defines the angle from which the element should be rotated.</a:t>
            </a:r>
          </a:p>
          <a:p>
            <a:endParaRPr lang="en-US" dirty="0"/>
          </a:p>
        </p:txBody>
      </p:sp>
    </p:spTree>
    <p:extLst>
      <p:ext uri="{BB962C8B-B14F-4D97-AF65-F5344CB8AC3E}">
        <p14:creationId xmlns:p14="http://schemas.microsoft.com/office/powerpoint/2010/main" val="23956765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fontAlgn="base"/>
            <a:r>
              <a:rPr lang="en-US" b="1" dirty="0"/>
              <a:t>Example</a:t>
            </a:r>
            <a:br>
              <a:rPr lang="en-US" b="1" dirty="0"/>
            </a:br>
            <a:r>
              <a:rPr lang="en-US" dirty="0"/>
              <a:t>Consider the example below to understand the working of the rotate() method.</a:t>
            </a:r>
          </a:p>
          <a:p>
            <a:pPr fontAlgn="base"/>
            <a:r>
              <a:rPr lang="en-US" b="1" dirty="0"/>
              <a:t>HTML</a:t>
            </a:r>
            <a:endParaRPr lang="en-US" dirty="0"/>
          </a:p>
          <a:p>
            <a:pPr fontAlgn="base"/>
            <a:r>
              <a:rPr lang="en-US" dirty="0"/>
              <a:t>&lt;</a:t>
            </a:r>
            <a:r>
              <a:rPr lang="en-US" dirty="0">
                <a:hlinkClick r:id="rId2"/>
              </a:rPr>
              <a:t>div</a:t>
            </a:r>
            <a:r>
              <a:rPr lang="en-US" dirty="0"/>
              <a:t>&gt;</a:t>
            </a:r>
            <a:br>
              <a:rPr lang="en-US" dirty="0"/>
            </a:br>
            <a:r>
              <a:rPr lang="en-US" dirty="0"/>
              <a:t>This is a normal div container.</a:t>
            </a:r>
            <a:br>
              <a:rPr lang="en-US" dirty="0"/>
            </a:br>
            <a:r>
              <a:rPr lang="en-US" dirty="0"/>
              <a:t>&lt;/</a:t>
            </a:r>
            <a:r>
              <a:rPr lang="en-US" dirty="0">
                <a:hlinkClick r:id="rId2"/>
              </a:rPr>
              <a:t>div</a:t>
            </a:r>
            <a:r>
              <a:rPr lang="en-US" dirty="0"/>
              <a:t>&gt;</a:t>
            </a:r>
            <a:br>
              <a:rPr lang="en-US" dirty="0"/>
            </a:br>
            <a:r>
              <a:rPr lang="en-US" dirty="0"/>
              <a:t>&lt;</a:t>
            </a:r>
            <a:r>
              <a:rPr lang="en-US" dirty="0">
                <a:hlinkClick r:id="rId2"/>
              </a:rPr>
              <a:t>div</a:t>
            </a:r>
            <a:r>
              <a:rPr lang="en-US" dirty="0"/>
              <a:t> class="clockwise"&gt;</a:t>
            </a:r>
            <a:br>
              <a:rPr lang="en-US" dirty="0"/>
            </a:br>
            <a:r>
              <a:rPr lang="en-US" dirty="0"/>
              <a:t>This div container is rotated 25 degrees clockwise.</a:t>
            </a:r>
            <a:br>
              <a:rPr lang="en-US" dirty="0"/>
            </a:br>
            <a:r>
              <a:rPr lang="en-US" dirty="0"/>
              <a:t>&lt;/</a:t>
            </a:r>
            <a:r>
              <a:rPr lang="en-US" dirty="0">
                <a:hlinkClick r:id="rId2"/>
              </a:rPr>
              <a:t>div</a:t>
            </a:r>
            <a:r>
              <a:rPr lang="en-US" dirty="0"/>
              <a:t>&gt;</a:t>
            </a:r>
            <a:br>
              <a:rPr lang="en-US" dirty="0"/>
            </a:br>
            <a:r>
              <a:rPr lang="en-US" dirty="0"/>
              <a:t>&lt;</a:t>
            </a:r>
            <a:r>
              <a:rPr lang="en-US" dirty="0">
                <a:hlinkClick r:id="rId2"/>
              </a:rPr>
              <a:t>div</a:t>
            </a:r>
            <a:r>
              <a:rPr lang="en-US" dirty="0"/>
              <a:t> class="anticlockwise"&gt;</a:t>
            </a:r>
            <a:br>
              <a:rPr lang="en-US" dirty="0"/>
            </a:br>
            <a:r>
              <a:rPr lang="en-US" dirty="0"/>
              <a:t>This div container is rotated 25 degrees anti-clockwise.</a:t>
            </a:r>
            <a:br>
              <a:rPr lang="en-US" dirty="0"/>
            </a:br>
            <a:r>
              <a:rPr lang="en-US" dirty="0"/>
              <a:t>&lt;/</a:t>
            </a:r>
            <a:r>
              <a:rPr lang="en-US" dirty="0">
                <a:hlinkClick r:id="rId2"/>
              </a:rPr>
              <a:t>div</a:t>
            </a:r>
            <a:r>
              <a:rPr lang="en-US" dirty="0"/>
              <a:t>&gt;</a:t>
            </a:r>
          </a:p>
          <a:p>
            <a:pPr fontAlgn="base"/>
            <a:r>
              <a:rPr lang="en-US" dirty="0"/>
              <a:t>Here we have specified three div containers to demonstrate the concept of the rotate() method.</a:t>
            </a:r>
          </a:p>
          <a:p>
            <a:endParaRPr lang="en-US" dirty="0"/>
          </a:p>
        </p:txBody>
      </p:sp>
    </p:spTree>
    <p:extLst>
      <p:ext uri="{BB962C8B-B14F-4D97-AF65-F5344CB8AC3E}">
        <p14:creationId xmlns:p14="http://schemas.microsoft.com/office/powerpoint/2010/main" val="28855952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fontAlgn="base"/>
            <a:r>
              <a:rPr lang="en-US" b="1" dirty="0"/>
              <a:t>CSS</a:t>
            </a:r>
            <a:endParaRPr lang="en-US" dirty="0"/>
          </a:p>
          <a:p>
            <a:pPr fontAlgn="base"/>
            <a:r>
              <a:rPr lang="en-US" dirty="0"/>
              <a:t>div {</a:t>
            </a:r>
            <a:br>
              <a:rPr lang="en-US" dirty="0"/>
            </a:br>
            <a:r>
              <a:rPr lang="en-US" dirty="0"/>
              <a:t>    width: 250px;</a:t>
            </a:r>
            <a:br>
              <a:rPr lang="en-US" dirty="0"/>
            </a:br>
            <a:r>
              <a:rPr lang="en-US" dirty="0"/>
              <a:t>    height: 100px;</a:t>
            </a:r>
            <a:br>
              <a:rPr lang="en-US" dirty="0"/>
            </a:br>
            <a:r>
              <a:rPr lang="en-US" dirty="0"/>
              <a:t>    background-color: bisque;</a:t>
            </a:r>
            <a:br>
              <a:rPr lang="en-US" dirty="0"/>
            </a:br>
            <a:r>
              <a:rPr lang="en-US" dirty="0"/>
              <a:t>    border: 1px solid gray;</a:t>
            </a:r>
            <a:br>
              <a:rPr lang="en-US" dirty="0"/>
            </a:br>
            <a:r>
              <a:rPr lang="en-US" dirty="0"/>
              <a:t>}</a:t>
            </a:r>
            <a:br>
              <a:rPr lang="en-US" dirty="0"/>
            </a:br>
            <a:r>
              <a:rPr lang="en-US" dirty="0"/>
              <a:t>.clockwise {</a:t>
            </a:r>
            <a:br>
              <a:rPr lang="en-US" dirty="0"/>
            </a:br>
            <a:r>
              <a:rPr lang="en-US" dirty="0"/>
              <a:t>    transform: rotate(25deg);</a:t>
            </a:r>
            <a:br>
              <a:rPr lang="en-US" dirty="0"/>
            </a:br>
            <a:r>
              <a:rPr lang="en-US" dirty="0"/>
              <a:t>}</a:t>
            </a:r>
            <a:br>
              <a:rPr lang="en-US" dirty="0"/>
            </a:br>
            <a:r>
              <a:rPr lang="en-US" dirty="0"/>
              <a:t>.anticlockwise {</a:t>
            </a:r>
            <a:br>
              <a:rPr lang="en-US" dirty="0"/>
            </a:br>
            <a:r>
              <a:rPr lang="en-US" dirty="0"/>
              <a:t>    transform: rotate(-25deg);</a:t>
            </a:r>
            <a:br>
              <a:rPr lang="en-US" dirty="0"/>
            </a:br>
            <a:r>
              <a:rPr lang="en-US" dirty="0"/>
              <a:t>}</a:t>
            </a:r>
          </a:p>
          <a:p>
            <a:endParaRPr lang="en-US" dirty="0"/>
          </a:p>
        </p:txBody>
      </p:sp>
    </p:spTree>
    <p:extLst>
      <p:ext uri="{BB962C8B-B14F-4D97-AF65-F5344CB8AC3E}">
        <p14:creationId xmlns:p14="http://schemas.microsoft.com/office/powerpoint/2010/main" val="18279330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scale() Method</a:t>
            </a:r>
          </a:p>
          <a:p>
            <a:pPr fontAlgn="base"/>
            <a:r>
              <a:rPr lang="en-US" dirty="0"/>
              <a:t>In order to enhance or reduce the size of an element based on the specified width, and height the scale() method is used.</a:t>
            </a:r>
          </a:p>
          <a:p>
            <a:pPr fontAlgn="base"/>
            <a:r>
              <a:rPr lang="en-US" b="1" dirty="0"/>
              <a:t>Syntax</a:t>
            </a:r>
            <a:endParaRPr lang="en-US" dirty="0"/>
          </a:p>
          <a:p>
            <a:pPr fontAlgn="base"/>
            <a:r>
              <a:rPr lang="en-US" dirty="0"/>
              <a:t>transform: scale (</a:t>
            </a:r>
            <a:r>
              <a:rPr lang="en-US" dirty="0" err="1"/>
              <a:t>sx</a:t>
            </a:r>
            <a:r>
              <a:rPr lang="en-US" dirty="0"/>
              <a:t>, </a:t>
            </a:r>
            <a:r>
              <a:rPr lang="en-US" dirty="0" err="1"/>
              <a:t>sy</a:t>
            </a:r>
            <a:r>
              <a:rPr lang="en-US" dirty="0"/>
              <a:t>)</a:t>
            </a:r>
          </a:p>
          <a:p>
            <a:endParaRPr lang="en-US" dirty="0"/>
          </a:p>
        </p:txBody>
      </p:sp>
    </p:spTree>
    <p:extLst>
      <p:ext uri="{BB962C8B-B14F-4D97-AF65-F5344CB8AC3E}">
        <p14:creationId xmlns:p14="http://schemas.microsoft.com/office/powerpoint/2010/main" val="34961998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fontAlgn="base"/>
            <a:r>
              <a:rPr lang="en-US" dirty="0"/>
              <a:t>transform: scale (</a:t>
            </a:r>
            <a:r>
              <a:rPr lang="en-US" dirty="0" err="1"/>
              <a:t>sx</a:t>
            </a:r>
            <a:r>
              <a:rPr lang="en-US" dirty="0"/>
              <a:t>)</a:t>
            </a:r>
          </a:p>
          <a:p>
            <a:pPr fontAlgn="base"/>
            <a:r>
              <a:rPr lang="en-US" dirty="0"/>
              <a:t>The </a:t>
            </a:r>
            <a:r>
              <a:rPr lang="en-US" dirty="0" err="1"/>
              <a:t>sx</a:t>
            </a:r>
            <a:r>
              <a:rPr lang="en-US" dirty="0"/>
              <a:t>, and </a:t>
            </a:r>
            <a:r>
              <a:rPr lang="en-US" dirty="0" err="1"/>
              <a:t>sy</a:t>
            </a:r>
            <a:r>
              <a:rPr lang="en-US" dirty="0"/>
              <a:t> represent the horizontal and vertical dimensions respectively.</a:t>
            </a:r>
          </a:p>
          <a:p>
            <a:pPr fontAlgn="base"/>
            <a:r>
              <a:rPr lang="en-US" b="1" dirty="0"/>
              <a:t>Example</a:t>
            </a:r>
            <a:br>
              <a:rPr lang="en-US" b="1" dirty="0"/>
            </a:br>
            <a:r>
              <a:rPr lang="en-US" dirty="0"/>
              <a:t>The example below demonstrates the working of the scale() method.</a:t>
            </a:r>
          </a:p>
          <a:p>
            <a:pPr fontAlgn="base"/>
            <a:r>
              <a:rPr lang="en-US" b="1" dirty="0"/>
              <a:t>HTML</a:t>
            </a:r>
            <a:endParaRPr lang="en-US" dirty="0"/>
          </a:p>
          <a:p>
            <a:pPr fontAlgn="base"/>
            <a:r>
              <a:rPr lang="en-US" dirty="0"/>
              <a:t>&lt;</a:t>
            </a:r>
            <a:r>
              <a:rPr lang="en-US" dirty="0">
                <a:hlinkClick r:id="rId2"/>
              </a:rPr>
              <a:t>div</a:t>
            </a:r>
            <a:r>
              <a:rPr lang="en-US" dirty="0"/>
              <a:t>&gt;The size of the div container is increased two times of its original width, and height.&lt;/</a:t>
            </a:r>
            <a:r>
              <a:rPr lang="en-US" dirty="0">
                <a:hlinkClick r:id="rId2"/>
              </a:rPr>
              <a:t>div</a:t>
            </a:r>
            <a:r>
              <a:rPr lang="en-US" dirty="0"/>
              <a:t>&gt;</a:t>
            </a:r>
          </a:p>
          <a:p>
            <a:pPr fontAlgn="base"/>
            <a:r>
              <a:rPr lang="en-US" dirty="0"/>
              <a:t>In the above code, we have simply created a div element.</a:t>
            </a:r>
          </a:p>
          <a:p>
            <a:endParaRPr lang="en-US" dirty="0"/>
          </a:p>
        </p:txBody>
      </p:sp>
    </p:spTree>
    <p:extLst>
      <p:ext uri="{BB962C8B-B14F-4D97-AF65-F5344CB8AC3E}">
        <p14:creationId xmlns:p14="http://schemas.microsoft.com/office/powerpoint/2010/main" val="13438985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b="1" dirty="0"/>
              <a:t>CSS</a:t>
            </a:r>
            <a:endParaRPr lang="en-US" dirty="0"/>
          </a:p>
          <a:p>
            <a:pPr fontAlgn="base"/>
            <a:r>
              <a:rPr lang="en-US" dirty="0"/>
              <a:t>div {</a:t>
            </a:r>
            <a:br>
              <a:rPr lang="en-US" dirty="0"/>
            </a:br>
            <a:r>
              <a:rPr lang="en-US" dirty="0"/>
              <a:t>    width: 200px;</a:t>
            </a:r>
            <a:br>
              <a:rPr lang="en-US" dirty="0"/>
            </a:br>
            <a:r>
              <a:rPr lang="en-US" dirty="0"/>
              <a:t>    height: 100px;</a:t>
            </a:r>
            <a:br>
              <a:rPr lang="en-US" dirty="0"/>
            </a:br>
            <a:r>
              <a:rPr lang="en-US" dirty="0"/>
              <a:t>    margin: 130px;</a:t>
            </a:r>
            <a:br>
              <a:rPr lang="en-US" dirty="0"/>
            </a:br>
            <a:r>
              <a:rPr lang="en-US" dirty="0"/>
              <a:t>    background-color: bisque;</a:t>
            </a:r>
            <a:br>
              <a:rPr lang="en-US" dirty="0"/>
            </a:br>
            <a:r>
              <a:rPr lang="en-US" dirty="0"/>
              <a:t>    border: 1px solid black;</a:t>
            </a:r>
            <a:br>
              <a:rPr lang="en-US" dirty="0"/>
            </a:br>
            <a:r>
              <a:rPr lang="en-US" dirty="0"/>
              <a:t>    transform: scale(2,2);</a:t>
            </a:r>
            <a:br>
              <a:rPr lang="en-US" dirty="0"/>
            </a:br>
            <a:r>
              <a:rPr lang="en-US" dirty="0"/>
              <a:t>}</a:t>
            </a:r>
          </a:p>
          <a:p>
            <a:pPr fontAlgn="base"/>
            <a:r>
              <a:rPr lang="en-US" dirty="0"/>
              <a:t>Using CSS properties we are assigning some width, height, and margin to the div element and lastly we are using the scale() method to increase the width and height of the element twice its original width and height.</a:t>
            </a:r>
          </a:p>
          <a:p>
            <a:endParaRPr lang="en-US" dirty="0"/>
          </a:p>
        </p:txBody>
      </p:sp>
    </p:spTree>
    <p:extLst>
      <p:ext uri="{BB962C8B-B14F-4D97-AF65-F5344CB8AC3E}">
        <p14:creationId xmlns:p14="http://schemas.microsoft.com/office/powerpoint/2010/main" val="13766569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fontAlgn="base"/>
            <a:r>
              <a:rPr lang="en-US" b="1" dirty="0" err="1"/>
              <a:t>scaleX</a:t>
            </a:r>
            <a:r>
              <a:rPr lang="en-US" b="1" dirty="0"/>
              <a:t>() Method</a:t>
            </a:r>
          </a:p>
          <a:p>
            <a:pPr fontAlgn="base"/>
            <a:r>
              <a:rPr lang="en-US" dirty="0"/>
              <a:t>For the purpose of altering the width of an element, the </a:t>
            </a:r>
            <a:r>
              <a:rPr lang="en-US" dirty="0" err="1"/>
              <a:t>scaleX</a:t>
            </a:r>
            <a:r>
              <a:rPr lang="en-US" dirty="0"/>
              <a:t>() method is used.</a:t>
            </a:r>
          </a:p>
          <a:p>
            <a:pPr fontAlgn="base"/>
            <a:r>
              <a:rPr lang="en-US" b="1" dirty="0"/>
              <a:t>Syntax</a:t>
            </a:r>
            <a:endParaRPr lang="en-US" dirty="0"/>
          </a:p>
          <a:p>
            <a:pPr fontAlgn="base"/>
            <a:r>
              <a:rPr lang="en-US" dirty="0"/>
              <a:t>transform: </a:t>
            </a:r>
            <a:r>
              <a:rPr lang="en-US" dirty="0" err="1"/>
              <a:t>scaleX</a:t>
            </a:r>
            <a:r>
              <a:rPr lang="en-US" dirty="0"/>
              <a:t> (</a:t>
            </a:r>
            <a:r>
              <a:rPr lang="en-US" dirty="0" err="1"/>
              <a:t>sx</a:t>
            </a:r>
            <a:r>
              <a:rPr lang="en-US" dirty="0"/>
              <a:t>)</a:t>
            </a:r>
          </a:p>
          <a:p>
            <a:pPr fontAlgn="base"/>
            <a:r>
              <a:rPr lang="en-US" dirty="0"/>
              <a:t>The </a:t>
            </a:r>
            <a:r>
              <a:rPr lang="en-US" dirty="0" err="1"/>
              <a:t>sx</a:t>
            </a:r>
            <a:r>
              <a:rPr lang="en-US" dirty="0"/>
              <a:t> parameter represents the horizontal dimension of an element.</a:t>
            </a:r>
          </a:p>
          <a:p>
            <a:r>
              <a:rPr lang="en-US" dirty="0"/>
              <a:t/>
            </a:r>
            <a:br>
              <a:rPr lang="en-US" dirty="0"/>
            </a:br>
            <a:endParaRPr lang="en-US" dirty="0"/>
          </a:p>
        </p:txBody>
      </p:sp>
    </p:spTree>
    <p:extLst>
      <p:ext uri="{BB962C8B-B14F-4D97-AF65-F5344CB8AC3E}">
        <p14:creationId xmlns:p14="http://schemas.microsoft.com/office/powerpoint/2010/main" val="14497760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Example</a:t>
            </a:r>
            <a:br>
              <a:rPr lang="en-US" b="1" dirty="0"/>
            </a:br>
            <a:r>
              <a:rPr lang="en-US" dirty="0"/>
              <a:t>Let’s say you want to decrease the width of an element then consult the example below.</a:t>
            </a:r>
          </a:p>
          <a:p>
            <a:pPr fontAlgn="base"/>
            <a:r>
              <a:rPr lang="en-US" b="1" dirty="0"/>
              <a:t>CSS</a:t>
            </a:r>
            <a:endParaRPr lang="en-US" dirty="0"/>
          </a:p>
          <a:p>
            <a:pPr fontAlgn="base"/>
            <a:r>
              <a:rPr lang="en-US" dirty="0"/>
              <a:t>div {</a:t>
            </a:r>
            <a:br>
              <a:rPr lang="en-US" dirty="0"/>
            </a:br>
            <a:r>
              <a:rPr lang="en-US" dirty="0"/>
              <a:t>    transform: </a:t>
            </a:r>
            <a:r>
              <a:rPr lang="en-US" dirty="0" err="1"/>
              <a:t>scaleX</a:t>
            </a:r>
            <a:r>
              <a:rPr lang="en-US" dirty="0"/>
              <a:t>(0.5);</a:t>
            </a:r>
            <a:br>
              <a:rPr lang="en-US" dirty="0"/>
            </a:br>
            <a:r>
              <a:rPr lang="en-US" dirty="0"/>
              <a:t>}</a:t>
            </a:r>
          </a:p>
          <a:p>
            <a:pPr fontAlgn="base"/>
            <a:r>
              <a:rPr lang="en-US" dirty="0"/>
              <a:t>In above code, we are using the </a:t>
            </a:r>
            <a:r>
              <a:rPr lang="en-US" dirty="0" err="1"/>
              <a:t>scaleX</a:t>
            </a:r>
            <a:r>
              <a:rPr lang="en-US" dirty="0"/>
              <a:t>() method to decrease the width of a div container.</a:t>
            </a:r>
          </a:p>
          <a:p>
            <a:endParaRPr lang="en-US" dirty="0"/>
          </a:p>
        </p:txBody>
      </p:sp>
    </p:spTree>
    <p:extLst>
      <p:ext uri="{BB962C8B-B14F-4D97-AF65-F5344CB8AC3E}">
        <p14:creationId xmlns:p14="http://schemas.microsoft.com/office/powerpoint/2010/main" val="12218696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a:t>The </a:t>
            </a:r>
            <a:r>
              <a:rPr lang="en-US" dirty="0" err="1"/>
              <a:t>scaleX</a:t>
            </a:r>
            <a:r>
              <a:rPr lang="en-US" dirty="0"/>
              <a:t>() method is working properly.</a:t>
            </a:r>
          </a:p>
          <a:p>
            <a:pPr fontAlgn="base"/>
            <a:r>
              <a:rPr lang="en-US" b="1" dirty="0" err="1"/>
              <a:t>scaleY</a:t>
            </a:r>
            <a:r>
              <a:rPr lang="en-US" b="1" dirty="0"/>
              <a:t>() Method</a:t>
            </a:r>
          </a:p>
          <a:p>
            <a:pPr fontAlgn="base"/>
            <a:r>
              <a:rPr lang="en-US" dirty="0"/>
              <a:t>For the purpose of altering the height of an element, the </a:t>
            </a:r>
            <a:r>
              <a:rPr lang="en-US" dirty="0" err="1"/>
              <a:t>scaleY</a:t>
            </a:r>
            <a:r>
              <a:rPr lang="en-US" dirty="0"/>
              <a:t>() method is used.</a:t>
            </a:r>
          </a:p>
          <a:p>
            <a:endParaRPr lang="en-US" dirty="0"/>
          </a:p>
        </p:txBody>
      </p:sp>
    </p:spTree>
    <p:extLst>
      <p:ext uri="{BB962C8B-B14F-4D97-AF65-F5344CB8AC3E}">
        <p14:creationId xmlns:p14="http://schemas.microsoft.com/office/powerpoint/2010/main" val="28968923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dirty="0"/>
              <a:t>transform: </a:t>
            </a:r>
            <a:r>
              <a:rPr lang="en-US" dirty="0" err="1"/>
              <a:t>scaleY</a:t>
            </a:r>
            <a:r>
              <a:rPr lang="en-US" dirty="0"/>
              <a:t> (</a:t>
            </a:r>
            <a:r>
              <a:rPr lang="en-US" dirty="0" err="1"/>
              <a:t>sy</a:t>
            </a:r>
            <a:r>
              <a:rPr lang="en-US" dirty="0"/>
              <a:t>)</a:t>
            </a:r>
          </a:p>
          <a:p>
            <a:pPr fontAlgn="base"/>
            <a:r>
              <a:rPr lang="en-US" dirty="0"/>
              <a:t>The </a:t>
            </a:r>
            <a:r>
              <a:rPr lang="en-US" dirty="0" err="1"/>
              <a:t>sy</a:t>
            </a:r>
            <a:r>
              <a:rPr lang="en-US" dirty="0"/>
              <a:t> parameter defines the value of y-axis.</a:t>
            </a:r>
          </a:p>
          <a:p>
            <a:pPr fontAlgn="base"/>
            <a:r>
              <a:rPr lang="en-US" b="1" dirty="0"/>
              <a:t>Example</a:t>
            </a:r>
            <a:endParaRPr lang="en-US" dirty="0"/>
          </a:p>
          <a:p>
            <a:pPr fontAlgn="base"/>
            <a:r>
              <a:rPr lang="en-US" dirty="0"/>
              <a:t>Consider the example below.</a:t>
            </a:r>
          </a:p>
          <a:p>
            <a:pPr fontAlgn="base"/>
            <a:r>
              <a:rPr lang="en-US" b="1" dirty="0"/>
              <a:t>CSS</a:t>
            </a:r>
            <a:endParaRPr lang="en-US" dirty="0"/>
          </a:p>
          <a:p>
            <a:pPr fontAlgn="base"/>
            <a:r>
              <a:rPr lang="en-US" dirty="0"/>
              <a:t>div {</a:t>
            </a:r>
            <a:br>
              <a:rPr lang="en-US" dirty="0"/>
            </a:br>
            <a:r>
              <a:rPr lang="en-US" dirty="0"/>
              <a:t>    transform: </a:t>
            </a:r>
            <a:r>
              <a:rPr lang="en-US" dirty="0" err="1"/>
              <a:t>scaleY</a:t>
            </a:r>
            <a:r>
              <a:rPr lang="en-US" dirty="0"/>
              <a:t>(2);</a:t>
            </a:r>
            <a:br>
              <a:rPr lang="en-US" dirty="0"/>
            </a:br>
            <a:r>
              <a:rPr lang="en-US" dirty="0"/>
              <a:t>}</a:t>
            </a:r>
          </a:p>
          <a:p>
            <a:pPr fontAlgn="base"/>
            <a:r>
              <a:rPr lang="en-US" dirty="0"/>
              <a:t>Here we are using the </a:t>
            </a:r>
            <a:r>
              <a:rPr lang="en-US" dirty="0" err="1"/>
              <a:t>scaleY</a:t>
            </a:r>
            <a:r>
              <a:rPr lang="en-US" dirty="0"/>
              <a:t>() method to increase the height of the div element.</a:t>
            </a:r>
          </a:p>
          <a:p>
            <a:endParaRPr lang="en-US" dirty="0"/>
          </a:p>
        </p:txBody>
      </p:sp>
    </p:spTree>
    <p:extLst>
      <p:ext uri="{BB962C8B-B14F-4D97-AF65-F5344CB8AC3E}">
        <p14:creationId xmlns:p14="http://schemas.microsoft.com/office/powerpoint/2010/main" val="29006675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skew() Method</a:t>
            </a:r>
          </a:p>
          <a:p>
            <a:r>
              <a:rPr lang="en-US" dirty="0"/>
              <a:t>This method skews an element horizontally and vertically based on the degrees specified.</a:t>
            </a:r>
          </a:p>
          <a:p>
            <a:endParaRPr lang="en-US" dirty="0"/>
          </a:p>
          <a:p>
            <a:r>
              <a:rPr lang="en-US" dirty="0"/>
              <a:t>Syntax</a:t>
            </a:r>
          </a:p>
          <a:p>
            <a:endParaRPr lang="en-US" dirty="0"/>
          </a:p>
          <a:p>
            <a:r>
              <a:rPr lang="en-US" dirty="0"/>
              <a:t>transform: skew (</a:t>
            </a:r>
            <a:r>
              <a:rPr lang="en-US" dirty="0" err="1"/>
              <a:t>sx</a:t>
            </a:r>
            <a:r>
              <a:rPr lang="en-US" dirty="0"/>
              <a:t>, </a:t>
            </a:r>
            <a:r>
              <a:rPr lang="en-US" dirty="0" err="1"/>
              <a:t>sy</a:t>
            </a:r>
            <a:r>
              <a:rPr lang="en-US" dirty="0"/>
              <a:t>)</a:t>
            </a:r>
          </a:p>
          <a:p>
            <a:r>
              <a:rPr lang="en-US" dirty="0"/>
              <a:t>Or,</a:t>
            </a:r>
          </a:p>
          <a:p>
            <a:endParaRPr lang="en-US" dirty="0"/>
          </a:p>
          <a:p>
            <a:endParaRPr lang="en-US" dirty="0"/>
          </a:p>
          <a:p>
            <a:r>
              <a:rPr lang="en-US" dirty="0"/>
              <a:t>transform: skew (</a:t>
            </a:r>
            <a:r>
              <a:rPr lang="en-US" dirty="0" err="1"/>
              <a:t>sx</a:t>
            </a:r>
            <a:r>
              <a:rPr lang="en-US" dirty="0"/>
              <a:t>)</a:t>
            </a:r>
          </a:p>
          <a:p>
            <a:r>
              <a:rPr lang="en-US" dirty="0"/>
              <a:t>The </a:t>
            </a:r>
            <a:r>
              <a:rPr lang="en-US" dirty="0" err="1"/>
              <a:t>sx</a:t>
            </a:r>
            <a:r>
              <a:rPr lang="en-US" dirty="0"/>
              <a:t>, and </a:t>
            </a:r>
            <a:r>
              <a:rPr lang="en-US" dirty="0" err="1"/>
              <a:t>sy</a:t>
            </a:r>
            <a:r>
              <a:rPr lang="en-US" dirty="0"/>
              <a:t> represent the x, and y axes.</a:t>
            </a:r>
          </a:p>
        </p:txBody>
      </p:sp>
    </p:spTree>
    <p:extLst>
      <p:ext uri="{BB962C8B-B14F-4D97-AF65-F5344CB8AC3E}">
        <p14:creationId xmlns:p14="http://schemas.microsoft.com/office/powerpoint/2010/main" val="193062738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fontAlgn="base"/>
            <a:r>
              <a:rPr lang="en-US" b="1" dirty="0"/>
              <a:t>Example</a:t>
            </a:r>
            <a:br>
              <a:rPr lang="en-US" b="1" dirty="0"/>
            </a:br>
            <a:r>
              <a:rPr lang="en-US" dirty="0"/>
              <a:t>Suppose you wish to skew an element along x and y axes..</a:t>
            </a:r>
          </a:p>
          <a:p>
            <a:pPr fontAlgn="base"/>
            <a:r>
              <a:rPr lang="en-US" b="1" dirty="0"/>
              <a:t>HTML</a:t>
            </a:r>
            <a:endParaRPr lang="en-US" dirty="0"/>
          </a:p>
          <a:p>
            <a:pPr fontAlgn="base"/>
            <a:r>
              <a:rPr lang="en-US" dirty="0"/>
              <a:t>&lt;</a:t>
            </a:r>
            <a:r>
              <a:rPr lang="en-US" dirty="0">
                <a:hlinkClick r:id="rId2"/>
              </a:rPr>
              <a:t>div</a:t>
            </a:r>
            <a:r>
              <a:rPr lang="en-US" dirty="0"/>
              <a:t>&gt;</a:t>
            </a:r>
            <a:br>
              <a:rPr lang="en-US" dirty="0"/>
            </a:br>
            <a:r>
              <a:rPr lang="en-US" dirty="0"/>
              <a:t>This is a normal div container.</a:t>
            </a:r>
            <a:br>
              <a:rPr lang="en-US" dirty="0"/>
            </a:br>
            <a:r>
              <a:rPr lang="en-US" dirty="0"/>
              <a:t>&lt;/</a:t>
            </a:r>
            <a:r>
              <a:rPr lang="en-US" dirty="0">
                <a:hlinkClick r:id="rId2"/>
              </a:rPr>
              <a:t>div</a:t>
            </a:r>
            <a:r>
              <a:rPr lang="en-US" dirty="0"/>
              <a:t>&gt;</a:t>
            </a:r>
            <a:br>
              <a:rPr lang="en-US" dirty="0"/>
            </a:br>
            <a:r>
              <a:rPr lang="en-US" dirty="0"/>
              <a:t>&lt;</a:t>
            </a:r>
            <a:r>
              <a:rPr lang="en-US" dirty="0">
                <a:hlinkClick r:id="rId2"/>
              </a:rPr>
              <a:t>div</a:t>
            </a:r>
            <a:r>
              <a:rPr lang="en-US" dirty="0"/>
              <a:t> class="skew"&gt;</a:t>
            </a:r>
            <a:br>
              <a:rPr lang="en-US" dirty="0"/>
            </a:br>
            <a:r>
              <a:rPr lang="en-US" dirty="0"/>
              <a:t>This div container is skewed 10 degrees horizontally, and 15 degrees vertically.</a:t>
            </a:r>
            <a:br>
              <a:rPr lang="en-US" dirty="0"/>
            </a:br>
            <a:r>
              <a:rPr lang="en-US" dirty="0"/>
              <a:t>&lt;/</a:t>
            </a:r>
            <a:r>
              <a:rPr lang="en-US" dirty="0">
                <a:hlinkClick r:id="rId2"/>
              </a:rPr>
              <a:t>div</a:t>
            </a:r>
            <a:r>
              <a:rPr lang="en-US" dirty="0"/>
              <a:t>&gt;</a:t>
            </a:r>
          </a:p>
          <a:p>
            <a:pPr fontAlgn="base"/>
            <a:r>
              <a:rPr lang="en-US" dirty="0"/>
              <a:t>Here we have defined two div containers to demonstrate the working of the skew() method.</a:t>
            </a:r>
          </a:p>
          <a:p>
            <a:endParaRPr lang="en-US" dirty="0"/>
          </a:p>
        </p:txBody>
      </p:sp>
    </p:spTree>
    <p:extLst>
      <p:ext uri="{BB962C8B-B14F-4D97-AF65-F5344CB8AC3E}">
        <p14:creationId xmlns:p14="http://schemas.microsoft.com/office/powerpoint/2010/main" val="23569876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b="1" dirty="0"/>
              <a:t>CSS</a:t>
            </a:r>
            <a:endParaRPr lang="en-US" dirty="0"/>
          </a:p>
          <a:p>
            <a:pPr fontAlgn="base"/>
            <a:r>
              <a:rPr lang="en-US" dirty="0"/>
              <a:t>div {</a:t>
            </a:r>
            <a:br>
              <a:rPr lang="en-US" dirty="0"/>
            </a:br>
            <a:r>
              <a:rPr lang="en-US" dirty="0"/>
              <a:t>    width: 200px;</a:t>
            </a:r>
            <a:br>
              <a:rPr lang="en-US" dirty="0"/>
            </a:br>
            <a:r>
              <a:rPr lang="en-US" dirty="0"/>
              <a:t>    height: 100px;</a:t>
            </a:r>
            <a:br>
              <a:rPr lang="en-US" dirty="0"/>
            </a:br>
            <a:r>
              <a:rPr lang="en-US" dirty="0"/>
              <a:t>    background-color: bisque;</a:t>
            </a:r>
            <a:br>
              <a:rPr lang="en-US" dirty="0"/>
            </a:br>
            <a:r>
              <a:rPr lang="en-US" dirty="0"/>
              <a:t>    border: 1px solid gray;</a:t>
            </a:r>
            <a:br>
              <a:rPr lang="en-US" dirty="0"/>
            </a:br>
            <a:r>
              <a:rPr lang="en-US" dirty="0"/>
              <a:t>}</a:t>
            </a:r>
            <a:br>
              <a:rPr lang="en-US" dirty="0"/>
            </a:br>
            <a:r>
              <a:rPr lang="en-US" dirty="0"/>
              <a:t>.skew {</a:t>
            </a:r>
            <a:br>
              <a:rPr lang="en-US" dirty="0"/>
            </a:br>
            <a:r>
              <a:rPr lang="en-US" dirty="0"/>
              <a:t>    transform: skew(10deg,15deg);</a:t>
            </a:r>
            <a:br>
              <a:rPr lang="en-US" dirty="0"/>
            </a:br>
            <a:r>
              <a:rPr lang="en-US" dirty="0"/>
              <a:t>}</a:t>
            </a:r>
          </a:p>
          <a:p>
            <a:pPr fontAlgn="base"/>
            <a:r>
              <a:rPr lang="en-US" dirty="0"/>
              <a:t>Apart from styling the div containers we are skewing the second div container 10 degrees along X-axis and 15 degrees along Y-axis.</a:t>
            </a:r>
            <a:r>
              <a:rPr lang="en-US" b="1" dirty="0"/>
              <a:t> </a:t>
            </a:r>
            <a:endParaRPr lang="en-US" dirty="0"/>
          </a:p>
          <a:p>
            <a:endParaRPr lang="en-US" dirty="0"/>
          </a:p>
        </p:txBody>
      </p:sp>
    </p:spTree>
    <p:extLst>
      <p:ext uri="{BB962C8B-B14F-4D97-AF65-F5344CB8AC3E}">
        <p14:creationId xmlns:p14="http://schemas.microsoft.com/office/powerpoint/2010/main" val="20478336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dirty="0">
                <a:hlinkClick r:id="rId2"/>
              </a:rPr>
              <a:t>translate() Method</a:t>
            </a:r>
            <a:endParaRPr lang="en-US" dirty="0"/>
          </a:p>
          <a:p>
            <a:pPr fontAlgn="base"/>
            <a:r>
              <a:rPr lang="en-US" dirty="0">
                <a:hlinkClick r:id="rId3"/>
              </a:rPr>
              <a:t>rotate() Method</a:t>
            </a:r>
            <a:endParaRPr lang="en-US" dirty="0"/>
          </a:p>
          <a:p>
            <a:pPr fontAlgn="base"/>
            <a:r>
              <a:rPr lang="en-US" dirty="0">
                <a:hlinkClick r:id="rId4"/>
              </a:rPr>
              <a:t>scale() Method</a:t>
            </a:r>
            <a:endParaRPr lang="en-US" dirty="0"/>
          </a:p>
          <a:p>
            <a:pPr fontAlgn="base"/>
            <a:r>
              <a:rPr lang="en-US" dirty="0" err="1">
                <a:hlinkClick r:id="rId5"/>
              </a:rPr>
              <a:t>scaleX</a:t>
            </a:r>
            <a:r>
              <a:rPr lang="en-US" dirty="0">
                <a:hlinkClick r:id="rId5"/>
              </a:rPr>
              <a:t>() Method</a:t>
            </a:r>
            <a:endParaRPr lang="en-US" dirty="0"/>
          </a:p>
          <a:p>
            <a:pPr fontAlgn="base"/>
            <a:r>
              <a:rPr lang="en-US" dirty="0" err="1">
                <a:hlinkClick r:id="rId6"/>
              </a:rPr>
              <a:t>scaleY</a:t>
            </a:r>
            <a:r>
              <a:rPr lang="en-US" dirty="0">
                <a:hlinkClick r:id="rId6"/>
              </a:rPr>
              <a:t>() Method</a:t>
            </a:r>
            <a:endParaRPr lang="en-US" dirty="0"/>
          </a:p>
          <a:p>
            <a:pPr fontAlgn="base"/>
            <a:r>
              <a:rPr lang="en-US" dirty="0">
                <a:hlinkClick r:id="rId7"/>
              </a:rPr>
              <a:t>skew() Method</a:t>
            </a:r>
            <a:endParaRPr lang="en-US" dirty="0"/>
          </a:p>
          <a:p>
            <a:pPr fontAlgn="base"/>
            <a:r>
              <a:rPr lang="en-US" dirty="0" err="1">
                <a:hlinkClick r:id="rId8"/>
              </a:rPr>
              <a:t>skewX</a:t>
            </a:r>
            <a:r>
              <a:rPr lang="en-US" dirty="0">
                <a:hlinkClick r:id="rId8"/>
              </a:rPr>
              <a:t>() Method</a:t>
            </a:r>
            <a:endParaRPr lang="en-US" dirty="0"/>
          </a:p>
          <a:p>
            <a:pPr fontAlgn="base"/>
            <a:r>
              <a:rPr lang="en-US" dirty="0" err="1">
                <a:hlinkClick r:id="rId9"/>
              </a:rPr>
              <a:t>skewY</a:t>
            </a:r>
            <a:r>
              <a:rPr lang="en-US" dirty="0">
                <a:hlinkClick r:id="rId9"/>
              </a:rPr>
              <a:t>() Method</a:t>
            </a:r>
            <a:endParaRPr lang="en-US" dirty="0"/>
          </a:p>
          <a:p>
            <a:pPr fontAlgn="base"/>
            <a:r>
              <a:rPr lang="en-US" dirty="0">
                <a:hlinkClick r:id="rId10"/>
              </a:rPr>
              <a:t>matrix() Method</a:t>
            </a:r>
            <a:endParaRPr lang="en-US" dirty="0"/>
          </a:p>
          <a:p>
            <a:endParaRPr lang="en-US" dirty="0"/>
          </a:p>
        </p:txBody>
      </p:sp>
    </p:spTree>
    <p:extLst>
      <p:ext uri="{BB962C8B-B14F-4D97-AF65-F5344CB8AC3E}">
        <p14:creationId xmlns:p14="http://schemas.microsoft.com/office/powerpoint/2010/main" val="6659061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CSS Gradients</a:t>
            </a:r>
          </a:p>
          <a:p>
            <a:endParaRPr lang="en-US" dirty="0" smtClean="0"/>
          </a:p>
          <a:p>
            <a:r>
              <a:rPr lang="en-US" dirty="0" smtClean="0"/>
              <a:t>CSS </a:t>
            </a:r>
            <a:r>
              <a:rPr lang="en-US" dirty="0"/>
              <a:t>gradients display progressive transitions between two or more specified colors. Gradients can be used in backgrounds.</a:t>
            </a:r>
          </a:p>
          <a:p>
            <a:endParaRPr lang="en-US" dirty="0"/>
          </a:p>
          <a:p>
            <a:r>
              <a:rPr lang="en-US" dirty="0"/>
              <a:t>There are three types of gradients:</a:t>
            </a:r>
          </a:p>
          <a:p>
            <a:endParaRPr lang="en-US" dirty="0"/>
          </a:p>
          <a:p>
            <a:r>
              <a:rPr lang="en-US" dirty="0"/>
              <a:t>Linear Gradients</a:t>
            </a:r>
          </a:p>
          <a:p>
            <a:r>
              <a:rPr lang="en-US" dirty="0"/>
              <a:t>Radial Gradients</a:t>
            </a:r>
          </a:p>
          <a:p>
            <a:r>
              <a:rPr lang="en-US" dirty="0"/>
              <a:t>Conic Gradients</a:t>
            </a:r>
          </a:p>
        </p:txBody>
      </p:sp>
    </p:spTree>
    <p:extLst>
      <p:ext uri="{BB962C8B-B14F-4D97-AF65-F5344CB8AC3E}">
        <p14:creationId xmlns:p14="http://schemas.microsoft.com/office/powerpoint/2010/main" val="33195907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Linear Gradients</a:t>
            </a:r>
          </a:p>
          <a:p>
            <a:r>
              <a:rPr lang="en-US" dirty="0"/>
              <a:t>The linear-gradient creates an image that consists of a smooth transition between two or more colors along a straight line. It can have a starting point and a direction along with the gradient effect.</a:t>
            </a:r>
          </a:p>
          <a:p>
            <a:endParaRPr lang="en-US" dirty="0"/>
          </a:p>
        </p:txBody>
      </p:sp>
    </p:spTree>
    <p:extLst>
      <p:ext uri="{BB962C8B-B14F-4D97-AF65-F5344CB8AC3E}">
        <p14:creationId xmlns:p14="http://schemas.microsoft.com/office/powerpoint/2010/main" val="7225608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325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&lt;style&gt;</a:t>
            </a:r>
          </a:p>
          <a:p>
            <a:r>
              <a:rPr lang="en-US" dirty="0"/>
              <a:t>      .gradient {</a:t>
            </a:r>
          </a:p>
          <a:p>
            <a:r>
              <a:rPr lang="en-US" dirty="0"/>
              <a:t>        height: 300px;</a:t>
            </a:r>
          </a:p>
          <a:p>
            <a:r>
              <a:rPr lang="en-US" dirty="0"/>
              <a:t>        background-color: blue; </a:t>
            </a:r>
          </a:p>
          <a:p>
            <a:r>
              <a:rPr lang="en-US" dirty="0"/>
              <a:t>        background-image: linear-gradient(#0052b0, #b340b3); </a:t>
            </a:r>
          </a:p>
          <a:p>
            <a:r>
              <a:rPr lang="en-US" dirty="0"/>
              <a:t>      }</a:t>
            </a:r>
          </a:p>
          <a:p>
            <a:r>
              <a:rPr lang="en-US" dirty="0"/>
              <a:t>    &lt;/style&gt;</a:t>
            </a:r>
          </a:p>
          <a:p>
            <a:r>
              <a:rPr lang="en-US" dirty="0"/>
              <a:t>  &lt;/head&gt;</a:t>
            </a:r>
          </a:p>
          <a:p>
            <a:r>
              <a:rPr lang="en-US" dirty="0"/>
              <a:t>  &lt;body&gt;</a:t>
            </a:r>
          </a:p>
          <a:p>
            <a:r>
              <a:rPr lang="en-US" dirty="0"/>
              <a:t>    &lt;div class="gradient"&gt;&lt;/div&gt;</a:t>
            </a:r>
          </a:p>
          <a:p>
            <a:r>
              <a:rPr lang="en-US" dirty="0"/>
              <a:t>  &lt;/body&gt;</a:t>
            </a:r>
          </a:p>
          <a:p>
            <a:r>
              <a:rPr lang="en-US" dirty="0"/>
              <a:t>&lt;/html&gt;</a:t>
            </a:r>
          </a:p>
        </p:txBody>
      </p:sp>
    </p:spTree>
    <p:extLst>
      <p:ext uri="{BB962C8B-B14F-4D97-AF65-F5344CB8AC3E}">
        <p14:creationId xmlns:p14="http://schemas.microsoft.com/office/powerpoint/2010/main" val="23562877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Left to Right</a:t>
            </a:r>
          </a:p>
          <a:p>
            <a:r>
              <a:rPr lang="en-US" dirty="0"/>
              <a:t>Changing a linear-gradient rotation specifying the direction starting from left transitioning to right.</a:t>
            </a:r>
          </a:p>
          <a:p>
            <a:endParaRPr lang="en-US" dirty="0"/>
          </a:p>
        </p:txBody>
      </p:sp>
    </p:spTree>
    <p:extLst>
      <p:ext uri="{BB962C8B-B14F-4D97-AF65-F5344CB8AC3E}">
        <p14:creationId xmlns:p14="http://schemas.microsoft.com/office/powerpoint/2010/main" val="29945863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32500" lnSpcReduction="20000"/>
          </a:bodyPr>
          <a:lstStyle/>
          <a:p>
            <a:r>
              <a:rPr lang="en-US" dirty="0" smtClean="0"/>
              <a:t>&lt;!DOCTYPE html&gt;</a:t>
            </a:r>
          </a:p>
          <a:p>
            <a:r>
              <a:rPr lang="en-US" dirty="0" smtClean="0"/>
              <a:t>&lt;html&gt;</a:t>
            </a:r>
          </a:p>
          <a:p>
            <a:r>
              <a:rPr lang="en-US" dirty="0" smtClean="0"/>
              <a:t>  &lt;head&gt;</a:t>
            </a:r>
          </a:p>
          <a:p>
            <a:r>
              <a:rPr lang="en-US" dirty="0" smtClean="0"/>
              <a:t>    &lt;title&gt;Title of the document&lt;/title&gt;</a:t>
            </a:r>
          </a:p>
          <a:p>
            <a:r>
              <a:rPr lang="en-US" dirty="0" smtClean="0"/>
              <a:t>    &lt;style&gt;</a:t>
            </a:r>
          </a:p>
          <a:p>
            <a:r>
              <a:rPr lang="en-US" dirty="0" smtClean="0"/>
              <a:t>      .gradient {</a:t>
            </a:r>
          </a:p>
          <a:p>
            <a:r>
              <a:rPr lang="en-US" dirty="0" smtClean="0"/>
              <a:t>        height: 300px;</a:t>
            </a:r>
          </a:p>
          <a:p>
            <a:r>
              <a:rPr lang="en-US" dirty="0" smtClean="0"/>
              <a:t>        background-color: blue; </a:t>
            </a:r>
          </a:p>
          <a:p>
            <a:r>
              <a:rPr lang="en-US" dirty="0" smtClean="0"/>
              <a:t>        background-image: linear-gradient(to right, #0052b0 ,#b340b3); </a:t>
            </a:r>
          </a:p>
          <a:p>
            <a:r>
              <a:rPr lang="en-US" dirty="0" smtClean="0"/>
              <a:t>      }</a:t>
            </a:r>
          </a:p>
          <a:p>
            <a:r>
              <a:rPr lang="en-US" dirty="0" smtClean="0"/>
              <a:t>    &lt;/style&gt;</a:t>
            </a:r>
          </a:p>
          <a:p>
            <a:r>
              <a:rPr lang="en-US" dirty="0" smtClean="0"/>
              <a:t>  &lt;/head&gt;</a:t>
            </a:r>
          </a:p>
          <a:p>
            <a:r>
              <a:rPr lang="en-US" dirty="0" smtClean="0"/>
              <a:t>  &lt;body&gt;</a:t>
            </a:r>
          </a:p>
          <a:p>
            <a:r>
              <a:rPr lang="en-US" dirty="0" smtClean="0"/>
              <a:t>    &lt;div class="gradient"&gt;&lt;/div&gt;</a:t>
            </a:r>
          </a:p>
          <a:p>
            <a:r>
              <a:rPr lang="en-US" dirty="0" smtClean="0"/>
              <a:t>  &lt;/body&gt;</a:t>
            </a:r>
          </a:p>
          <a:p>
            <a:r>
              <a:rPr lang="en-US" dirty="0" smtClean="0"/>
              <a:t>&lt;/html&gt;</a:t>
            </a:r>
            <a:endParaRPr lang="en-US" dirty="0"/>
          </a:p>
        </p:txBody>
      </p:sp>
    </p:spTree>
    <p:extLst>
      <p:ext uri="{BB962C8B-B14F-4D97-AF65-F5344CB8AC3E}">
        <p14:creationId xmlns:p14="http://schemas.microsoft.com/office/powerpoint/2010/main" val="1397756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Diagonal gradients</a:t>
            </a:r>
          </a:p>
          <a:p>
            <a:r>
              <a:rPr lang="en-US" dirty="0"/>
              <a:t>Gradients can be run diagonally specifying both the horizontal and vertical starting positions. It starts at the top left and goes to the bottom right.</a:t>
            </a:r>
          </a:p>
          <a:p>
            <a:endParaRPr lang="en-US" dirty="0"/>
          </a:p>
        </p:txBody>
      </p:sp>
    </p:spTree>
    <p:extLst>
      <p:ext uri="{BB962C8B-B14F-4D97-AF65-F5344CB8AC3E}">
        <p14:creationId xmlns:p14="http://schemas.microsoft.com/office/powerpoint/2010/main" val="7302624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325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&lt;style&gt;</a:t>
            </a:r>
          </a:p>
          <a:p>
            <a:r>
              <a:rPr lang="en-US" dirty="0"/>
              <a:t>      .gradient {</a:t>
            </a:r>
          </a:p>
          <a:p>
            <a:r>
              <a:rPr lang="en-US" dirty="0"/>
              <a:t>        height: 300px;</a:t>
            </a:r>
          </a:p>
          <a:p>
            <a:r>
              <a:rPr lang="en-US" dirty="0"/>
              <a:t>        background-color: blue; </a:t>
            </a:r>
          </a:p>
          <a:p>
            <a:r>
              <a:rPr lang="en-US" dirty="0"/>
              <a:t>        background-image: linear-gradient(to bottom right, #0052b0, #b340b3); </a:t>
            </a:r>
          </a:p>
          <a:p>
            <a:r>
              <a:rPr lang="en-US" dirty="0"/>
              <a:t>      }</a:t>
            </a:r>
          </a:p>
          <a:p>
            <a:r>
              <a:rPr lang="en-US" dirty="0"/>
              <a:t>    &lt;/style&gt;</a:t>
            </a:r>
          </a:p>
          <a:p>
            <a:r>
              <a:rPr lang="en-US" dirty="0"/>
              <a:t>  &lt;/head&gt;</a:t>
            </a:r>
          </a:p>
          <a:p>
            <a:r>
              <a:rPr lang="en-US" dirty="0"/>
              <a:t>  &lt;body&gt;</a:t>
            </a:r>
          </a:p>
          <a:p>
            <a:r>
              <a:rPr lang="en-US" dirty="0"/>
              <a:t>    &lt;div class="gradient"&gt;&lt;/div&gt;</a:t>
            </a:r>
          </a:p>
          <a:p>
            <a:r>
              <a:rPr lang="en-US" dirty="0"/>
              <a:t>  &lt;/body&gt;</a:t>
            </a:r>
          </a:p>
          <a:p>
            <a:r>
              <a:rPr lang="en-US" dirty="0"/>
              <a:t>&lt;/html&gt;</a:t>
            </a:r>
          </a:p>
        </p:txBody>
      </p:sp>
    </p:spTree>
    <p:extLst>
      <p:ext uri="{BB962C8B-B14F-4D97-AF65-F5344CB8AC3E}">
        <p14:creationId xmlns:p14="http://schemas.microsoft.com/office/powerpoint/2010/main" val="27193997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Introduction to CSS Text Effects</a:t>
            </a:r>
          </a:p>
          <a:p>
            <a:r>
              <a:rPr lang="en-US" dirty="0"/>
              <a:t>Many properties of CSS text effects help to provide various styling in the words of a sentence in an HTML page with </a:t>
            </a:r>
            <a:r>
              <a:rPr lang="en-US" dirty="0" err="1"/>
              <a:t>CSS.So</a:t>
            </a:r>
            <a:r>
              <a:rPr lang="en-US" dirty="0"/>
              <a:t> that words will get the various pattern, orientations, and designs by using various text effects of the CSS. Utilizing its various values of the parameters to get a better design of the web page which is as per the required design in a web page development. In this article, we will demonstrate the techniques that a web page designer can apply to the text of an HTML page by using CSS text effects property with many examples.</a:t>
            </a:r>
          </a:p>
          <a:p>
            <a:endParaRPr lang="en-US" dirty="0"/>
          </a:p>
        </p:txBody>
      </p:sp>
    </p:spTree>
    <p:extLst>
      <p:ext uri="{BB962C8B-B14F-4D97-AF65-F5344CB8AC3E}">
        <p14:creationId xmlns:p14="http://schemas.microsoft.com/office/powerpoint/2010/main" val="26826430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fontAlgn="base"/>
            <a:r>
              <a:rPr lang="en-US" dirty="0"/>
              <a:t>By this time, we have already mastered the </a:t>
            </a:r>
            <a:r>
              <a:rPr lang="en-US" b="1" dirty="0">
                <a:hlinkClick r:id="rId2"/>
              </a:rPr>
              <a:t>CSS Text</a:t>
            </a:r>
            <a:r>
              <a:rPr lang="en-US" dirty="0"/>
              <a:t> properties like –</a:t>
            </a:r>
          </a:p>
          <a:p>
            <a:pPr fontAlgn="base"/>
            <a:r>
              <a:rPr lang="en-US" dirty="0"/>
              <a:t>Text Color (using </a:t>
            </a:r>
            <a:r>
              <a:rPr lang="en-US" i="1" dirty="0"/>
              <a:t>color</a:t>
            </a:r>
            <a:r>
              <a:rPr lang="en-US" dirty="0"/>
              <a:t>)</a:t>
            </a:r>
          </a:p>
          <a:p>
            <a:pPr fontAlgn="base"/>
            <a:r>
              <a:rPr lang="en-US" dirty="0"/>
              <a:t>Text Alignment (using </a:t>
            </a:r>
            <a:r>
              <a:rPr lang="en-US" i="1" dirty="0"/>
              <a:t>text-align</a:t>
            </a:r>
            <a:r>
              <a:rPr lang="en-US" dirty="0"/>
              <a:t>)</a:t>
            </a:r>
          </a:p>
          <a:p>
            <a:pPr fontAlgn="base"/>
            <a:r>
              <a:rPr lang="en-US" dirty="0"/>
              <a:t>Text Direction(using </a:t>
            </a:r>
            <a:r>
              <a:rPr lang="en-US" i="1" dirty="0"/>
              <a:t>direction</a:t>
            </a:r>
            <a:r>
              <a:rPr lang="en-US" dirty="0"/>
              <a:t>)</a:t>
            </a:r>
          </a:p>
          <a:p>
            <a:pPr fontAlgn="base"/>
            <a:r>
              <a:rPr lang="en-US" dirty="0"/>
              <a:t>Text bold (using </a:t>
            </a:r>
            <a:r>
              <a:rPr lang="en-US" b="1" dirty="0"/>
              <a:t> tag)</a:t>
            </a:r>
            <a:endParaRPr lang="en-US" dirty="0"/>
          </a:p>
          <a:p>
            <a:pPr fontAlgn="base"/>
            <a:r>
              <a:rPr lang="en-US" dirty="0"/>
              <a:t>Text Size (using </a:t>
            </a:r>
            <a:r>
              <a:rPr lang="en-US" i="1" dirty="0"/>
              <a:t>font-size</a:t>
            </a:r>
            <a:r>
              <a:rPr lang="en-US" dirty="0"/>
              <a:t>)</a:t>
            </a:r>
          </a:p>
          <a:p>
            <a:pPr fontAlgn="base"/>
            <a:r>
              <a:rPr lang="en-US" dirty="0"/>
              <a:t>Text Line Height (using </a:t>
            </a:r>
            <a:r>
              <a:rPr lang="en-US" i="1" dirty="0"/>
              <a:t>line-height</a:t>
            </a:r>
            <a:r>
              <a:rPr lang="en-US" dirty="0"/>
              <a:t>)</a:t>
            </a:r>
          </a:p>
          <a:p>
            <a:pPr fontAlgn="base"/>
            <a:r>
              <a:rPr lang="en-US" dirty="0"/>
              <a:t>Space between words (using </a:t>
            </a:r>
            <a:r>
              <a:rPr lang="en-US" i="1" dirty="0"/>
              <a:t>word-spacing</a:t>
            </a:r>
            <a:r>
              <a:rPr lang="en-US" dirty="0"/>
              <a:t>)</a:t>
            </a:r>
          </a:p>
          <a:p>
            <a:pPr fontAlgn="base"/>
            <a:r>
              <a:rPr lang="en-US" dirty="0"/>
              <a:t>Space between Letters (using </a:t>
            </a:r>
            <a:r>
              <a:rPr lang="en-US" i="1" dirty="0"/>
              <a:t>letter-spacing</a:t>
            </a:r>
            <a:r>
              <a:rPr lang="en-US" dirty="0"/>
              <a:t>)</a:t>
            </a:r>
          </a:p>
          <a:p>
            <a:pPr fontAlgn="base"/>
            <a:r>
              <a:rPr lang="en-US" dirty="0"/>
              <a:t>Text Decoration (using </a:t>
            </a:r>
            <a:r>
              <a:rPr lang="en-US" i="1" dirty="0"/>
              <a:t>text-decoration</a:t>
            </a:r>
            <a:r>
              <a:rPr lang="en-US" dirty="0"/>
              <a:t>)</a:t>
            </a:r>
          </a:p>
          <a:p>
            <a:pPr fontAlgn="base"/>
            <a:r>
              <a:rPr lang="en-US" dirty="0"/>
              <a:t>Outline Text (using </a:t>
            </a:r>
            <a:r>
              <a:rPr lang="en-US" i="1" dirty="0"/>
              <a:t>text-stroke</a:t>
            </a:r>
            <a:r>
              <a:rPr lang="en-US" dirty="0"/>
              <a:t>)</a:t>
            </a:r>
          </a:p>
          <a:p>
            <a:pPr fontAlgn="base"/>
            <a:r>
              <a:rPr lang="en-US" dirty="0"/>
              <a:t>Indent the Text (using </a:t>
            </a:r>
            <a:r>
              <a:rPr lang="en-US" i="1" dirty="0"/>
              <a:t>text-indent</a:t>
            </a:r>
            <a:r>
              <a:rPr lang="en-US" dirty="0"/>
              <a:t>)</a:t>
            </a:r>
          </a:p>
          <a:p>
            <a:pPr fontAlgn="base"/>
            <a:r>
              <a:rPr lang="en-US" dirty="0"/>
              <a:t>Transform the text from lower to upper case and vice versa (using </a:t>
            </a:r>
            <a:r>
              <a:rPr lang="en-US" i="1" dirty="0"/>
              <a:t>text-transform</a:t>
            </a:r>
            <a:r>
              <a:rPr lang="en-US" dirty="0"/>
              <a:t>)</a:t>
            </a:r>
          </a:p>
          <a:p>
            <a:endParaRPr lang="en-US" dirty="0"/>
          </a:p>
        </p:txBody>
      </p:sp>
    </p:spTree>
    <p:extLst>
      <p:ext uri="{BB962C8B-B14F-4D97-AF65-F5344CB8AC3E}">
        <p14:creationId xmlns:p14="http://schemas.microsoft.com/office/powerpoint/2010/main" val="29224610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fontAlgn="base"/>
            <a:r>
              <a:rPr lang="en-US" dirty="0"/>
              <a:t>We also covered the shadow effects in detail like-</a:t>
            </a:r>
          </a:p>
          <a:p>
            <a:pPr fontAlgn="base"/>
            <a:r>
              <a:rPr lang="en-US" b="1" dirty="0">
                <a:hlinkClick r:id="rId2"/>
              </a:rPr>
              <a:t>Text shadow</a:t>
            </a:r>
            <a:endParaRPr lang="en-US" dirty="0"/>
          </a:p>
          <a:p>
            <a:pPr fontAlgn="base"/>
            <a:r>
              <a:rPr lang="en-US" b="1" dirty="0">
                <a:hlinkClick r:id="rId3"/>
              </a:rPr>
              <a:t>Box-shadow</a:t>
            </a:r>
            <a:endParaRPr lang="en-US" dirty="0"/>
          </a:p>
          <a:p>
            <a:pPr fontAlgn="base"/>
            <a:r>
              <a:rPr lang="en-US" dirty="0"/>
              <a:t>Let us master some Text Effects properties like</a:t>
            </a:r>
          </a:p>
          <a:p>
            <a:pPr fontAlgn="base"/>
            <a:r>
              <a:rPr lang="en-US" i="1" dirty="0"/>
              <a:t>word-wrap</a:t>
            </a:r>
            <a:endParaRPr lang="en-US" dirty="0"/>
          </a:p>
          <a:p>
            <a:pPr fontAlgn="base"/>
            <a:r>
              <a:rPr lang="en-US" i="1" dirty="0"/>
              <a:t>word-break</a:t>
            </a:r>
            <a:endParaRPr lang="en-US" dirty="0"/>
          </a:p>
          <a:p>
            <a:pPr fontAlgn="base"/>
            <a:r>
              <a:rPr lang="en-US" i="1" dirty="0"/>
              <a:t>text-overflow</a:t>
            </a:r>
            <a:endParaRPr lang="en-US" dirty="0"/>
          </a:p>
          <a:p>
            <a:pPr fontAlgn="base"/>
            <a:r>
              <a:rPr lang="en-US" i="1" dirty="0"/>
              <a:t>writing-mode</a:t>
            </a:r>
            <a:endParaRPr lang="en-US" dirty="0"/>
          </a:p>
          <a:p>
            <a:endParaRPr lang="en-US" dirty="0"/>
          </a:p>
        </p:txBody>
      </p:sp>
    </p:spTree>
    <p:extLst>
      <p:ext uri="{BB962C8B-B14F-4D97-AF65-F5344CB8AC3E}">
        <p14:creationId xmlns:p14="http://schemas.microsoft.com/office/powerpoint/2010/main" val="4355177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fontAlgn="base"/>
            <a:r>
              <a:rPr lang="en-US" b="1" dirty="0"/>
              <a:t>1. Word-wrap</a:t>
            </a:r>
          </a:p>
          <a:p>
            <a:pPr fontAlgn="base"/>
            <a:r>
              <a:rPr lang="en-US" dirty="0"/>
              <a:t>The </a:t>
            </a:r>
            <a:r>
              <a:rPr lang="en-US" i="1" dirty="0"/>
              <a:t>word-wrap </a:t>
            </a:r>
            <a:r>
              <a:rPr lang="en-US" dirty="0"/>
              <a:t>breaks the long words which are not able to fit in the same line to the next line.</a:t>
            </a:r>
          </a:p>
          <a:p>
            <a:pPr fontAlgn="base"/>
            <a:r>
              <a:rPr lang="en-US" i="1" dirty="0"/>
              <a:t>word-wrap</a:t>
            </a:r>
            <a:r>
              <a:rPr lang="en-US" dirty="0"/>
              <a:t> takes one of the following values –</a:t>
            </a:r>
          </a:p>
          <a:p>
            <a:pPr fontAlgn="base"/>
            <a:r>
              <a:rPr lang="en-US" i="1" dirty="0"/>
              <a:t>normal </a:t>
            </a:r>
            <a:r>
              <a:rPr lang="en-US" dirty="0"/>
              <a:t>– This follows the normal word break rule. </a:t>
            </a:r>
          </a:p>
          <a:p>
            <a:pPr fontAlgn="base"/>
            <a:r>
              <a:rPr lang="en-US" i="1" dirty="0"/>
              <a:t>break-word </a:t>
            </a:r>
            <a:r>
              <a:rPr lang="en-US" dirty="0"/>
              <a:t>– This breaks the long words which do not fit in the line to the next line so it wraps the long words in such a way that the extra letters flows in the next line.</a:t>
            </a:r>
          </a:p>
          <a:p>
            <a:pPr fontAlgn="base"/>
            <a:r>
              <a:rPr lang="en-US" i="1" dirty="0"/>
              <a:t>inherit </a:t>
            </a:r>
            <a:r>
              <a:rPr lang="en-US" dirty="0"/>
              <a:t>– This gets the </a:t>
            </a:r>
            <a:r>
              <a:rPr lang="en-US" i="1" dirty="0"/>
              <a:t>word-wrap </a:t>
            </a:r>
            <a:r>
              <a:rPr lang="en-US" dirty="0"/>
              <a:t>property from its parent.</a:t>
            </a:r>
          </a:p>
          <a:p>
            <a:endParaRPr lang="en-US" dirty="0"/>
          </a:p>
        </p:txBody>
      </p:sp>
    </p:spTree>
    <p:extLst>
      <p:ext uri="{BB962C8B-B14F-4D97-AF65-F5344CB8AC3E}">
        <p14:creationId xmlns:p14="http://schemas.microsoft.com/office/powerpoint/2010/main" val="24756771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0000" lnSpcReduction="20000"/>
          </a:bodyPr>
          <a:lstStyle/>
          <a:p>
            <a:r>
              <a:rPr lang="en-US" dirty="0"/>
              <a:t>Example of word-wrap</a:t>
            </a:r>
          </a:p>
          <a:p>
            <a:r>
              <a:rPr lang="en-US" dirty="0"/>
              <a:t>#word-wrap-normal {</a:t>
            </a:r>
          </a:p>
          <a:p>
            <a:r>
              <a:rPr lang="en-US" dirty="0"/>
              <a:t>  background-color: </a:t>
            </a:r>
            <a:r>
              <a:rPr lang="en-US" dirty="0" err="1"/>
              <a:t>deepskyblue</a:t>
            </a:r>
            <a:r>
              <a:rPr lang="en-US" dirty="0"/>
              <a:t>;</a:t>
            </a:r>
          </a:p>
          <a:p>
            <a:r>
              <a:rPr lang="en-US" dirty="0"/>
              <a:t>  width: 200px;</a:t>
            </a:r>
          </a:p>
          <a:p>
            <a:r>
              <a:rPr lang="en-US" dirty="0"/>
              <a:t>  height: 150px;</a:t>
            </a:r>
          </a:p>
          <a:p>
            <a:r>
              <a:rPr lang="en-US" dirty="0"/>
              <a:t>  padding:10px;</a:t>
            </a:r>
          </a:p>
          <a:p>
            <a:r>
              <a:rPr lang="en-US" dirty="0"/>
              <a:t>}</a:t>
            </a:r>
          </a:p>
          <a:p>
            <a:endParaRPr lang="en-US" dirty="0"/>
          </a:p>
          <a:p>
            <a:r>
              <a:rPr lang="en-US" dirty="0"/>
              <a:t>#word-wrap-break {</a:t>
            </a:r>
          </a:p>
          <a:p>
            <a:r>
              <a:rPr lang="en-US" dirty="0"/>
              <a:t>  </a:t>
            </a:r>
            <a:r>
              <a:rPr lang="en-US" dirty="0" err="1"/>
              <a:t>background-color:hotpink</a:t>
            </a:r>
            <a:r>
              <a:rPr lang="en-US" dirty="0"/>
              <a:t>;</a:t>
            </a:r>
          </a:p>
          <a:p>
            <a:r>
              <a:rPr lang="en-US" dirty="0"/>
              <a:t>  width:200px;</a:t>
            </a:r>
          </a:p>
          <a:p>
            <a:r>
              <a:rPr lang="en-US" dirty="0"/>
              <a:t>  height:150px;</a:t>
            </a:r>
          </a:p>
          <a:p>
            <a:r>
              <a:rPr lang="en-US" dirty="0"/>
              <a:t>  padding:10px;</a:t>
            </a:r>
          </a:p>
          <a:p>
            <a:r>
              <a:rPr lang="en-US" dirty="0"/>
              <a:t>  </a:t>
            </a:r>
            <a:r>
              <a:rPr lang="en-US" dirty="0" err="1"/>
              <a:t>word-wrap:break-word</a:t>
            </a:r>
            <a:r>
              <a:rPr lang="en-US" dirty="0"/>
              <a:t>;</a:t>
            </a:r>
          </a:p>
          <a:p>
            <a:r>
              <a:rPr lang="en-US" dirty="0"/>
              <a:t>}</a:t>
            </a:r>
          </a:p>
        </p:txBody>
      </p:sp>
    </p:spTree>
    <p:extLst>
      <p:ext uri="{BB962C8B-B14F-4D97-AF65-F5344CB8AC3E}">
        <p14:creationId xmlns:p14="http://schemas.microsoft.com/office/powerpoint/2010/main" val="10198903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b="1" dirty="0"/>
              <a:t>2. Word-break</a:t>
            </a:r>
          </a:p>
          <a:p>
            <a:pPr fontAlgn="base"/>
            <a:r>
              <a:rPr lang="en-US" dirty="0"/>
              <a:t>The </a:t>
            </a:r>
            <a:r>
              <a:rPr lang="en-US" i="1" dirty="0"/>
              <a:t>word-break </a:t>
            </a:r>
            <a:r>
              <a:rPr lang="en-US" dirty="0"/>
              <a:t>property specifies how words should break at the end of the line.</a:t>
            </a:r>
          </a:p>
          <a:p>
            <a:pPr fontAlgn="base"/>
            <a:r>
              <a:rPr lang="en-US" i="1" dirty="0"/>
              <a:t>word-break</a:t>
            </a:r>
            <a:r>
              <a:rPr lang="en-US" dirty="0"/>
              <a:t> takes one of the following values –</a:t>
            </a:r>
          </a:p>
          <a:p>
            <a:pPr fontAlgn="base"/>
            <a:r>
              <a:rPr lang="en-US" i="1" dirty="0"/>
              <a:t>normal </a:t>
            </a:r>
            <a:r>
              <a:rPr lang="en-US" dirty="0"/>
              <a:t>– This does not break the long words into the next line. It goes with the flow and the text can go in the same line even beyond the container or div. The line will only break if there are white spaces or space between 2 consecutive words</a:t>
            </a:r>
          </a:p>
          <a:p>
            <a:pPr fontAlgn="base"/>
            <a:r>
              <a:rPr lang="en-US" i="1" dirty="0"/>
              <a:t>keep-all </a:t>
            </a:r>
            <a:r>
              <a:rPr lang="en-US" dirty="0"/>
              <a:t>– For Chinese/Japanese/Korean (CJK) texts, do not use the word-break property at all. For other texts i.e. Non-CJK texts, the word break will be normal.</a:t>
            </a:r>
          </a:p>
          <a:p>
            <a:pPr fontAlgn="base"/>
            <a:r>
              <a:rPr lang="en-US" i="1" dirty="0"/>
              <a:t>break-word </a:t>
            </a:r>
            <a:r>
              <a:rPr lang="en-US" dirty="0"/>
              <a:t>– Break the unbreakable words at arbitrary points to prevent the overflow</a:t>
            </a:r>
          </a:p>
          <a:p>
            <a:pPr fontAlgn="base"/>
            <a:r>
              <a:rPr lang="en-US" i="1" dirty="0"/>
              <a:t>break-all </a:t>
            </a:r>
            <a:r>
              <a:rPr lang="en-US" dirty="0"/>
              <a:t>– Words should break between 2 characters to prevent the overflow.</a:t>
            </a:r>
          </a:p>
          <a:p>
            <a:pPr fontAlgn="base"/>
            <a:r>
              <a:rPr lang="en-US" i="1" dirty="0"/>
              <a:t>inherit </a:t>
            </a:r>
            <a:r>
              <a:rPr lang="en-US" dirty="0"/>
              <a:t>– This gets the </a:t>
            </a:r>
            <a:r>
              <a:rPr lang="en-US" i="1" dirty="0"/>
              <a:t>word-break</a:t>
            </a:r>
            <a:r>
              <a:rPr lang="en-US" dirty="0"/>
              <a:t> property from its parent</a:t>
            </a:r>
          </a:p>
          <a:p>
            <a:endParaRPr lang="en-US" dirty="0"/>
          </a:p>
        </p:txBody>
      </p:sp>
    </p:spTree>
    <p:extLst>
      <p:ext uri="{BB962C8B-B14F-4D97-AF65-F5344CB8AC3E}">
        <p14:creationId xmlns:p14="http://schemas.microsoft.com/office/powerpoint/2010/main" val="8818785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25000" lnSpcReduction="20000"/>
          </a:bodyPr>
          <a:lstStyle/>
          <a:p>
            <a:r>
              <a:rPr lang="en-US" dirty="0"/>
              <a:t>Example of word-break</a:t>
            </a:r>
          </a:p>
          <a:p>
            <a:r>
              <a:rPr lang="en-US" dirty="0"/>
              <a:t>#word-break-normal {</a:t>
            </a:r>
          </a:p>
          <a:p>
            <a:r>
              <a:rPr lang="en-US" dirty="0"/>
              <a:t>  background-color: </a:t>
            </a:r>
            <a:r>
              <a:rPr lang="en-US" dirty="0" err="1"/>
              <a:t>deepskyblue</a:t>
            </a:r>
            <a:r>
              <a:rPr lang="en-US" dirty="0"/>
              <a:t>;</a:t>
            </a:r>
          </a:p>
          <a:p>
            <a:r>
              <a:rPr lang="en-US" dirty="0"/>
              <a:t>  width: 200px;</a:t>
            </a:r>
          </a:p>
          <a:p>
            <a:r>
              <a:rPr lang="en-US" dirty="0"/>
              <a:t>  height: 150px;</a:t>
            </a:r>
          </a:p>
          <a:p>
            <a:r>
              <a:rPr lang="en-US" dirty="0"/>
              <a:t>  padding:10px;</a:t>
            </a:r>
          </a:p>
          <a:p>
            <a:r>
              <a:rPr lang="en-US" dirty="0"/>
              <a:t>  </a:t>
            </a:r>
            <a:r>
              <a:rPr lang="en-US" dirty="0" err="1"/>
              <a:t>word-break:normal</a:t>
            </a:r>
            <a:r>
              <a:rPr lang="en-US" dirty="0"/>
              <a:t>;</a:t>
            </a:r>
          </a:p>
          <a:p>
            <a:r>
              <a:rPr lang="en-US" dirty="0"/>
              <a:t>}  </a:t>
            </a:r>
          </a:p>
          <a:p>
            <a:r>
              <a:rPr lang="en-US" dirty="0"/>
              <a:t>  </a:t>
            </a:r>
          </a:p>
          <a:p>
            <a:r>
              <a:rPr lang="en-US" dirty="0"/>
              <a:t>#word-break-</a:t>
            </a:r>
            <a:r>
              <a:rPr lang="en-US" dirty="0" err="1"/>
              <a:t>keepall</a:t>
            </a:r>
            <a:r>
              <a:rPr lang="en-US" dirty="0"/>
              <a:t> {</a:t>
            </a:r>
          </a:p>
          <a:p>
            <a:r>
              <a:rPr lang="en-US" dirty="0"/>
              <a:t>  </a:t>
            </a:r>
            <a:r>
              <a:rPr lang="en-US" dirty="0" err="1"/>
              <a:t>background-color:hotpink</a:t>
            </a:r>
            <a:r>
              <a:rPr lang="en-US" dirty="0"/>
              <a:t>;</a:t>
            </a:r>
          </a:p>
          <a:p>
            <a:r>
              <a:rPr lang="en-US" dirty="0"/>
              <a:t>  width:200px;</a:t>
            </a:r>
          </a:p>
          <a:p>
            <a:r>
              <a:rPr lang="en-US" dirty="0"/>
              <a:t>  height:150px;</a:t>
            </a:r>
          </a:p>
          <a:p>
            <a:r>
              <a:rPr lang="en-US" dirty="0"/>
              <a:t>  padding:10px;</a:t>
            </a:r>
          </a:p>
          <a:p>
            <a:r>
              <a:rPr lang="en-US" dirty="0"/>
              <a:t>  </a:t>
            </a:r>
            <a:r>
              <a:rPr lang="en-US" dirty="0" err="1"/>
              <a:t>word-break:keep-all</a:t>
            </a:r>
            <a:r>
              <a:rPr lang="en-US" dirty="0"/>
              <a:t>;</a:t>
            </a:r>
          </a:p>
          <a:p>
            <a:r>
              <a:rPr lang="en-US" dirty="0"/>
              <a:t>}</a:t>
            </a:r>
          </a:p>
          <a:p>
            <a:r>
              <a:rPr lang="en-US" dirty="0"/>
              <a:t>  </a:t>
            </a:r>
          </a:p>
          <a:p>
            <a:r>
              <a:rPr lang="en-US" dirty="0"/>
              <a:t>#word-break-</a:t>
            </a:r>
            <a:r>
              <a:rPr lang="en-US" dirty="0" err="1"/>
              <a:t>breakall</a:t>
            </a:r>
            <a:r>
              <a:rPr lang="en-US" dirty="0"/>
              <a:t> {</a:t>
            </a:r>
          </a:p>
          <a:p>
            <a:r>
              <a:rPr lang="en-US" dirty="0"/>
              <a:t>  </a:t>
            </a:r>
            <a:r>
              <a:rPr lang="en-US" dirty="0" err="1"/>
              <a:t>background-color:gold</a:t>
            </a:r>
            <a:r>
              <a:rPr lang="en-US" dirty="0"/>
              <a:t>;</a:t>
            </a:r>
          </a:p>
          <a:p>
            <a:r>
              <a:rPr lang="en-US" dirty="0"/>
              <a:t>  width:200px;</a:t>
            </a:r>
          </a:p>
          <a:p>
            <a:r>
              <a:rPr lang="en-US" dirty="0"/>
              <a:t>  height:150px;</a:t>
            </a:r>
          </a:p>
          <a:p>
            <a:r>
              <a:rPr lang="en-US" dirty="0"/>
              <a:t>  padding:10px;</a:t>
            </a:r>
          </a:p>
          <a:p>
            <a:r>
              <a:rPr lang="en-US" dirty="0"/>
              <a:t>  </a:t>
            </a:r>
            <a:r>
              <a:rPr lang="en-US" dirty="0" err="1"/>
              <a:t>word-break:break-all</a:t>
            </a:r>
            <a:r>
              <a:rPr lang="en-US" dirty="0"/>
              <a:t>;</a:t>
            </a:r>
          </a:p>
          <a:p>
            <a:r>
              <a:rPr lang="en-US" dirty="0"/>
              <a:t>}</a:t>
            </a:r>
          </a:p>
        </p:txBody>
      </p:sp>
    </p:spTree>
    <p:extLst>
      <p:ext uri="{BB962C8B-B14F-4D97-AF65-F5344CB8AC3E}">
        <p14:creationId xmlns:p14="http://schemas.microsoft.com/office/powerpoint/2010/main" val="28027929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b="1" dirty="0"/>
              <a:t>3. text-overflow</a:t>
            </a:r>
          </a:p>
          <a:p>
            <a:pPr fontAlgn="base"/>
            <a:r>
              <a:rPr lang="en-US" dirty="0"/>
              <a:t>The </a:t>
            </a:r>
            <a:r>
              <a:rPr lang="en-US" i="1" dirty="0"/>
              <a:t>text-overflow </a:t>
            </a:r>
            <a:r>
              <a:rPr lang="en-US" dirty="0"/>
              <a:t>decides how the text will be displayed to the user in case the text overflows its boundary i.e. it decides whether to clip the text or show some dots etc.</a:t>
            </a:r>
          </a:p>
          <a:p>
            <a:pPr fontAlgn="base"/>
            <a:r>
              <a:rPr lang="en-US" dirty="0"/>
              <a:t>This takes any one of these values –</a:t>
            </a:r>
          </a:p>
          <a:p>
            <a:pPr fontAlgn="base"/>
            <a:r>
              <a:rPr lang="en-US" i="1" dirty="0"/>
              <a:t>clip </a:t>
            </a:r>
            <a:r>
              <a:rPr lang="en-US" dirty="0"/>
              <a:t>– This property clips(cuts) the overflowed texts</a:t>
            </a:r>
          </a:p>
          <a:p>
            <a:pPr fontAlgn="base"/>
            <a:r>
              <a:rPr lang="en-US" i="1" dirty="0"/>
              <a:t>ellipsis </a:t>
            </a:r>
            <a:r>
              <a:rPr lang="en-US" dirty="0"/>
              <a:t>– In this case, there will be 3 dots(…) to show the clipped text</a:t>
            </a:r>
          </a:p>
          <a:p>
            <a:pPr fontAlgn="base"/>
            <a:r>
              <a:rPr lang="en-US" i="1" dirty="0"/>
              <a:t>string </a:t>
            </a:r>
            <a:r>
              <a:rPr lang="en-US" dirty="0"/>
              <a:t>– The particular string will use the data type </a:t>
            </a:r>
            <a:r>
              <a:rPr lang="en-US" b="1" dirty="0"/>
              <a:t>&lt;string&gt;</a:t>
            </a:r>
            <a:r>
              <a:rPr lang="en-US" dirty="0"/>
              <a:t> to show the clipped text. This works on Firefox browser only. We do not advise to use this in production.</a:t>
            </a:r>
          </a:p>
          <a:p>
            <a:pPr fontAlgn="base"/>
            <a:r>
              <a:rPr lang="en-US" i="1" dirty="0"/>
              <a:t>inherit </a:t>
            </a:r>
            <a:r>
              <a:rPr lang="en-US" dirty="0"/>
              <a:t>– The given element will acquire the </a:t>
            </a:r>
            <a:r>
              <a:rPr lang="en-US" i="1" dirty="0"/>
              <a:t>text-overflow </a:t>
            </a:r>
            <a:r>
              <a:rPr lang="en-US" dirty="0"/>
              <a:t>property from its parent</a:t>
            </a:r>
          </a:p>
          <a:p>
            <a:pPr fontAlgn="base"/>
            <a:r>
              <a:rPr lang="en-US" dirty="0"/>
              <a:t>The </a:t>
            </a:r>
            <a:r>
              <a:rPr lang="en-US" i="1" dirty="0"/>
              <a:t>text-overflow </a:t>
            </a:r>
            <a:r>
              <a:rPr lang="en-US" dirty="0"/>
              <a:t>does not work on its own. You should code </a:t>
            </a:r>
            <a:r>
              <a:rPr lang="en-US" i="1" dirty="0"/>
              <a:t>white-space: </a:t>
            </a:r>
            <a:r>
              <a:rPr lang="en-US" i="1" dirty="0" err="1"/>
              <a:t>nowrap</a:t>
            </a:r>
            <a:r>
              <a:rPr lang="en-US" dirty="0"/>
              <a:t> &amp; </a:t>
            </a:r>
            <a:r>
              <a:rPr lang="en-US" i="1" dirty="0"/>
              <a:t>overflow: hidden</a:t>
            </a:r>
            <a:r>
              <a:rPr lang="en-US" dirty="0"/>
              <a:t> along with this.</a:t>
            </a:r>
          </a:p>
          <a:p>
            <a:endParaRPr lang="en-US" dirty="0"/>
          </a:p>
        </p:txBody>
      </p:sp>
    </p:spTree>
    <p:extLst>
      <p:ext uri="{BB962C8B-B14F-4D97-AF65-F5344CB8AC3E}">
        <p14:creationId xmlns:p14="http://schemas.microsoft.com/office/powerpoint/2010/main" val="12707268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80321" y="1968500"/>
            <a:ext cx="9613861" cy="3967689"/>
          </a:xfrm>
        </p:spPr>
        <p:txBody>
          <a:bodyPr>
            <a:normAutofit fontScale="25000" lnSpcReduction="20000"/>
          </a:bodyPr>
          <a:lstStyle/>
          <a:p>
            <a:r>
              <a:rPr lang="en-US" dirty="0"/>
              <a:t>Example of text-overflow</a:t>
            </a:r>
          </a:p>
          <a:p>
            <a:r>
              <a:rPr lang="en-US" dirty="0"/>
              <a:t>h2 {   </a:t>
            </a:r>
          </a:p>
          <a:p>
            <a:r>
              <a:rPr lang="en-US" dirty="0"/>
              <a:t> background-color: black;</a:t>
            </a:r>
          </a:p>
          <a:p>
            <a:r>
              <a:rPr lang="en-US" dirty="0"/>
              <a:t> width: 100px;</a:t>
            </a:r>
          </a:p>
          <a:p>
            <a:r>
              <a:rPr lang="en-US" dirty="0"/>
              <a:t> height: 80px;</a:t>
            </a:r>
          </a:p>
          <a:p>
            <a:r>
              <a:rPr lang="en-US" dirty="0"/>
              <a:t>}</a:t>
            </a:r>
          </a:p>
          <a:p>
            <a:r>
              <a:rPr lang="en-US" dirty="0"/>
              <a:t>#txt-clip {</a:t>
            </a:r>
          </a:p>
          <a:p>
            <a:r>
              <a:rPr lang="en-US" dirty="0"/>
              <a:t> </a:t>
            </a:r>
            <a:r>
              <a:rPr lang="en-US" dirty="0" err="1"/>
              <a:t>text-overflow:clip</a:t>
            </a:r>
            <a:r>
              <a:rPr lang="en-US" dirty="0"/>
              <a:t>;</a:t>
            </a:r>
          </a:p>
          <a:p>
            <a:r>
              <a:rPr lang="en-US" dirty="0"/>
              <a:t> </a:t>
            </a:r>
            <a:r>
              <a:rPr lang="en-US" dirty="0" err="1"/>
              <a:t>color:white</a:t>
            </a:r>
            <a:r>
              <a:rPr lang="en-US" dirty="0"/>
              <a:t>;</a:t>
            </a:r>
          </a:p>
          <a:p>
            <a:r>
              <a:rPr lang="en-US" dirty="0"/>
              <a:t> </a:t>
            </a:r>
            <a:r>
              <a:rPr lang="en-US" dirty="0" err="1"/>
              <a:t>white-space:nowrap</a:t>
            </a:r>
            <a:r>
              <a:rPr lang="en-US" dirty="0"/>
              <a:t>;</a:t>
            </a:r>
          </a:p>
          <a:p>
            <a:r>
              <a:rPr lang="en-US" dirty="0"/>
              <a:t> </a:t>
            </a:r>
            <a:r>
              <a:rPr lang="en-US" dirty="0" err="1"/>
              <a:t>overflow:hidden</a:t>
            </a:r>
            <a:r>
              <a:rPr lang="en-US" dirty="0"/>
              <a:t>;</a:t>
            </a:r>
          </a:p>
          <a:p>
            <a:r>
              <a:rPr lang="en-US" dirty="0"/>
              <a:t>}</a:t>
            </a:r>
          </a:p>
          <a:p>
            <a:endParaRPr lang="en-US" dirty="0"/>
          </a:p>
          <a:p>
            <a:r>
              <a:rPr lang="en-US" dirty="0"/>
              <a:t>#txt-ellipsis {</a:t>
            </a:r>
          </a:p>
          <a:p>
            <a:r>
              <a:rPr lang="en-US" dirty="0"/>
              <a:t> </a:t>
            </a:r>
            <a:r>
              <a:rPr lang="en-US" dirty="0" err="1"/>
              <a:t>text-overflow:ellipsis</a:t>
            </a:r>
            <a:r>
              <a:rPr lang="en-US" dirty="0"/>
              <a:t>;</a:t>
            </a:r>
          </a:p>
          <a:p>
            <a:r>
              <a:rPr lang="en-US" dirty="0"/>
              <a:t> </a:t>
            </a:r>
            <a:r>
              <a:rPr lang="en-US" dirty="0" err="1"/>
              <a:t>color:white</a:t>
            </a:r>
            <a:r>
              <a:rPr lang="en-US" dirty="0"/>
              <a:t>;</a:t>
            </a:r>
          </a:p>
          <a:p>
            <a:r>
              <a:rPr lang="en-US" dirty="0"/>
              <a:t> </a:t>
            </a:r>
            <a:r>
              <a:rPr lang="en-US" dirty="0" err="1"/>
              <a:t>white-space:nowrap</a:t>
            </a:r>
            <a:r>
              <a:rPr lang="en-US" dirty="0"/>
              <a:t>;</a:t>
            </a:r>
          </a:p>
          <a:p>
            <a:r>
              <a:rPr lang="en-US" dirty="0"/>
              <a:t> </a:t>
            </a:r>
            <a:r>
              <a:rPr lang="en-US" dirty="0" err="1"/>
              <a:t>overflow:hidden</a:t>
            </a:r>
            <a:r>
              <a:rPr lang="en-US" dirty="0"/>
              <a:t>;</a:t>
            </a:r>
          </a:p>
          <a:p>
            <a:r>
              <a:rPr lang="en-US" dirty="0"/>
              <a:t>}</a:t>
            </a:r>
          </a:p>
          <a:p>
            <a:endParaRPr lang="en-US" dirty="0"/>
          </a:p>
          <a:p>
            <a:r>
              <a:rPr lang="en-US" dirty="0"/>
              <a:t>#txt-string {</a:t>
            </a:r>
          </a:p>
          <a:p>
            <a:r>
              <a:rPr lang="en-US" dirty="0"/>
              <a:t> text-overflow:"---";</a:t>
            </a:r>
          </a:p>
          <a:p>
            <a:r>
              <a:rPr lang="en-US" dirty="0"/>
              <a:t> </a:t>
            </a:r>
            <a:r>
              <a:rPr lang="en-US" dirty="0" err="1"/>
              <a:t>color:white</a:t>
            </a:r>
            <a:r>
              <a:rPr lang="en-US" dirty="0"/>
              <a:t>;</a:t>
            </a:r>
          </a:p>
          <a:p>
            <a:r>
              <a:rPr lang="en-US" dirty="0"/>
              <a:t> </a:t>
            </a:r>
            <a:r>
              <a:rPr lang="en-US" dirty="0" err="1"/>
              <a:t>white-space:nowrap</a:t>
            </a:r>
            <a:r>
              <a:rPr lang="en-US" dirty="0"/>
              <a:t>;</a:t>
            </a:r>
          </a:p>
          <a:p>
            <a:r>
              <a:rPr lang="en-US" dirty="0"/>
              <a:t> </a:t>
            </a:r>
            <a:r>
              <a:rPr lang="en-US" dirty="0" err="1"/>
              <a:t>overflow:hidden</a:t>
            </a:r>
            <a:r>
              <a:rPr lang="en-US" dirty="0"/>
              <a:t>;</a:t>
            </a:r>
          </a:p>
          <a:p>
            <a:r>
              <a:rPr lang="en-US" dirty="0"/>
              <a:t>}</a:t>
            </a:r>
          </a:p>
        </p:txBody>
      </p:sp>
    </p:spTree>
    <p:extLst>
      <p:ext uri="{BB962C8B-B14F-4D97-AF65-F5344CB8AC3E}">
        <p14:creationId xmlns:p14="http://schemas.microsoft.com/office/powerpoint/2010/main" val="38683664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3D Text</a:t>
            </a:r>
          </a:p>
          <a:p>
            <a:pPr fontAlgn="base"/>
            <a:r>
              <a:rPr lang="en-US" dirty="0"/>
              <a:t>By using the </a:t>
            </a:r>
            <a:r>
              <a:rPr lang="en-US" i="1" dirty="0"/>
              <a:t>text-shadow</a:t>
            </a:r>
            <a:r>
              <a:rPr lang="en-US" dirty="0"/>
              <a:t>, we are going to create a beautiful 3D text.</a:t>
            </a:r>
          </a:p>
          <a:p>
            <a:pPr fontAlgn="base"/>
            <a:r>
              <a:rPr lang="en-US" dirty="0"/>
              <a:t>If you need a detailed knowledge of </a:t>
            </a:r>
            <a:r>
              <a:rPr lang="en-US" dirty="0">
                <a:hlinkClick r:id="rId2"/>
              </a:rPr>
              <a:t>text-shadow</a:t>
            </a:r>
            <a:r>
              <a:rPr lang="en-US" dirty="0"/>
              <a:t> , then </a:t>
            </a:r>
            <a:r>
              <a:rPr lang="en-US" dirty="0">
                <a:hlinkClick r:id="rId2"/>
              </a:rPr>
              <a:t>this article is the best one</a:t>
            </a:r>
            <a:r>
              <a:rPr lang="en-US" dirty="0"/>
              <a:t>.</a:t>
            </a:r>
          </a:p>
          <a:p>
            <a:endParaRPr lang="en-US" dirty="0"/>
          </a:p>
        </p:txBody>
      </p:sp>
    </p:spTree>
    <p:extLst>
      <p:ext uri="{BB962C8B-B14F-4D97-AF65-F5344CB8AC3E}">
        <p14:creationId xmlns:p14="http://schemas.microsoft.com/office/powerpoint/2010/main" val="36015053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Example of 3D-Text</a:t>
            </a:r>
          </a:p>
          <a:p>
            <a:r>
              <a:rPr lang="en-US" dirty="0"/>
              <a:t>h2 {</a:t>
            </a:r>
          </a:p>
          <a:p>
            <a:r>
              <a:rPr lang="en-US" dirty="0"/>
              <a:t>  font-size:85px;</a:t>
            </a:r>
          </a:p>
          <a:p>
            <a:r>
              <a:rPr lang="en-US" dirty="0"/>
              <a:t>  text-shadow:0px 0px 0 </a:t>
            </a:r>
            <a:r>
              <a:rPr lang="en-US" dirty="0" err="1"/>
              <a:t>rgb</a:t>
            </a:r>
            <a:r>
              <a:rPr lang="en-US" dirty="0"/>
              <a:t>(237,237,237),1px </a:t>
            </a:r>
            <a:r>
              <a:rPr lang="en-US" dirty="0" err="1"/>
              <a:t>1px</a:t>
            </a:r>
            <a:r>
              <a:rPr lang="en-US" dirty="0"/>
              <a:t> 0 </a:t>
            </a:r>
            <a:r>
              <a:rPr lang="en-US" dirty="0" err="1"/>
              <a:t>rgb</a:t>
            </a:r>
            <a:r>
              <a:rPr lang="en-US" dirty="0"/>
              <a:t>(230,230,230),2px </a:t>
            </a:r>
            <a:r>
              <a:rPr lang="en-US" dirty="0" err="1"/>
              <a:t>2px</a:t>
            </a:r>
            <a:r>
              <a:rPr lang="en-US" dirty="0"/>
              <a:t> 0 </a:t>
            </a:r>
            <a:r>
              <a:rPr lang="en-US" dirty="0" err="1"/>
              <a:t>rgb</a:t>
            </a:r>
            <a:r>
              <a:rPr lang="en-US" dirty="0"/>
              <a:t>(222,222,222),3px </a:t>
            </a:r>
            <a:r>
              <a:rPr lang="en-US" dirty="0" err="1"/>
              <a:t>3px</a:t>
            </a:r>
            <a:r>
              <a:rPr lang="en-US" dirty="0"/>
              <a:t> 0 </a:t>
            </a:r>
            <a:r>
              <a:rPr lang="en-US" dirty="0" err="1"/>
              <a:t>rgb</a:t>
            </a:r>
            <a:r>
              <a:rPr lang="en-US" dirty="0"/>
              <a:t>(214,214,214),4px </a:t>
            </a:r>
            <a:r>
              <a:rPr lang="en-US" dirty="0" err="1"/>
              <a:t>4px</a:t>
            </a:r>
            <a:r>
              <a:rPr lang="en-US" dirty="0"/>
              <a:t> 0 </a:t>
            </a:r>
            <a:r>
              <a:rPr lang="en-US" dirty="0" err="1"/>
              <a:t>rgb</a:t>
            </a:r>
            <a:r>
              <a:rPr lang="en-US" dirty="0"/>
              <a:t>(207,207,207),5px </a:t>
            </a:r>
            <a:r>
              <a:rPr lang="en-US" dirty="0" err="1"/>
              <a:t>5px</a:t>
            </a:r>
            <a:r>
              <a:rPr lang="en-US" dirty="0"/>
              <a:t> 0 </a:t>
            </a:r>
            <a:r>
              <a:rPr lang="en-US" dirty="0" err="1"/>
              <a:t>rgb</a:t>
            </a:r>
            <a:r>
              <a:rPr lang="en-US" dirty="0"/>
              <a:t>(199,199,199),6px </a:t>
            </a:r>
            <a:r>
              <a:rPr lang="en-US" dirty="0" err="1"/>
              <a:t>6px</a:t>
            </a:r>
            <a:r>
              <a:rPr lang="en-US" dirty="0"/>
              <a:t> 0 </a:t>
            </a:r>
            <a:r>
              <a:rPr lang="en-US" dirty="0" err="1"/>
              <a:t>rgb</a:t>
            </a:r>
            <a:r>
              <a:rPr lang="en-US" dirty="0"/>
              <a:t>(191,191,191),7px </a:t>
            </a:r>
            <a:r>
              <a:rPr lang="en-US" dirty="0" err="1"/>
              <a:t>7px</a:t>
            </a:r>
            <a:r>
              <a:rPr lang="en-US" dirty="0"/>
              <a:t> 0 </a:t>
            </a:r>
            <a:r>
              <a:rPr lang="en-US" dirty="0" err="1"/>
              <a:t>rgb</a:t>
            </a:r>
            <a:r>
              <a:rPr lang="en-US" dirty="0"/>
              <a:t>(184,184,184),8px </a:t>
            </a:r>
            <a:r>
              <a:rPr lang="en-US" dirty="0" err="1"/>
              <a:t>8px</a:t>
            </a:r>
            <a:r>
              <a:rPr lang="en-US" dirty="0"/>
              <a:t> 0 </a:t>
            </a:r>
            <a:r>
              <a:rPr lang="en-US" dirty="0" err="1"/>
              <a:t>rgb</a:t>
            </a:r>
            <a:r>
              <a:rPr lang="en-US" dirty="0"/>
              <a:t>(176,176,176),9px </a:t>
            </a:r>
            <a:r>
              <a:rPr lang="en-US" dirty="0" err="1"/>
              <a:t>9px</a:t>
            </a:r>
            <a:r>
              <a:rPr lang="en-US" dirty="0"/>
              <a:t> 0 </a:t>
            </a:r>
            <a:r>
              <a:rPr lang="en-US" dirty="0" err="1"/>
              <a:t>rgb</a:t>
            </a:r>
            <a:r>
              <a:rPr lang="en-US" dirty="0"/>
              <a:t>(169,169,169),10px </a:t>
            </a:r>
            <a:r>
              <a:rPr lang="en-US" dirty="0" err="1"/>
              <a:t>10px</a:t>
            </a:r>
            <a:r>
              <a:rPr lang="en-US" dirty="0"/>
              <a:t> 0 </a:t>
            </a:r>
            <a:r>
              <a:rPr lang="en-US" dirty="0" err="1"/>
              <a:t>rgb</a:t>
            </a:r>
            <a:r>
              <a:rPr lang="en-US" dirty="0"/>
              <a:t>(161,161,161),11px </a:t>
            </a:r>
            <a:r>
              <a:rPr lang="en-US" dirty="0" err="1"/>
              <a:t>11px</a:t>
            </a:r>
            <a:r>
              <a:rPr lang="en-US" dirty="0"/>
              <a:t> 0 </a:t>
            </a:r>
            <a:r>
              <a:rPr lang="en-US" dirty="0" err="1"/>
              <a:t>rgb</a:t>
            </a:r>
            <a:r>
              <a:rPr lang="en-US" dirty="0"/>
              <a:t>(153,153,153),12px </a:t>
            </a:r>
            <a:r>
              <a:rPr lang="en-US" dirty="0" err="1"/>
              <a:t>12px</a:t>
            </a:r>
            <a:r>
              <a:rPr lang="en-US" dirty="0"/>
              <a:t> 0 </a:t>
            </a:r>
            <a:r>
              <a:rPr lang="en-US" dirty="0" err="1"/>
              <a:t>rgb</a:t>
            </a:r>
            <a:r>
              <a:rPr lang="en-US" dirty="0"/>
              <a:t>(146,146,146),13px </a:t>
            </a:r>
            <a:r>
              <a:rPr lang="en-US" dirty="0" err="1"/>
              <a:t>13px</a:t>
            </a:r>
            <a:r>
              <a:rPr lang="en-US" dirty="0"/>
              <a:t> 0 </a:t>
            </a:r>
            <a:r>
              <a:rPr lang="en-US" dirty="0" err="1"/>
              <a:t>rgb</a:t>
            </a:r>
            <a:r>
              <a:rPr lang="en-US" dirty="0"/>
              <a:t>(138,138,138),14px </a:t>
            </a:r>
            <a:r>
              <a:rPr lang="en-US" dirty="0" err="1"/>
              <a:t>14px</a:t>
            </a:r>
            <a:r>
              <a:rPr lang="en-US" dirty="0"/>
              <a:t> 0 </a:t>
            </a:r>
            <a:r>
              <a:rPr lang="en-US" dirty="0" err="1"/>
              <a:t>rgb</a:t>
            </a:r>
            <a:r>
              <a:rPr lang="en-US" dirty="0"/>
              <a:t>(130,130,130),15px </a:t>
            </a:r>
            <a:r>
              <a:rPr lang="en-US" dirty="0" err="1"/>
              <a:t>15px</a:t>
            </a:r>
            <a:r>
              <a:rPr lang="en-US" dirty="0"/>
              <a:t> 0 </a:t>
            </a:r>
            <a:r>
              <a:rPr lang="en-US" dirty="0" err="1"/>
              <a:t>rgb</a:t>
            </a:r>
            <a:r>
              <a:rPr lang="en-US" dirty="0"/>
              <a:t>(123,123,123),16px </a:t>
            </a:r>
            <a:r>
              <a:rPr lang="en-US" dirty="0" err="1"/>
              <a:t>16px</a:t>
            </a:r>
            <a:r>
              <a:rPr lang="en-US" dirty="0"/>
              <a:t> 0 </a:t>
            </a:r>
            <a:r>
              <a:rPr lang="en-US" dirty="0" err="1"/>
              <a:t>rgb</a:t>
            </a:r>
            <a:r>
              <a:rPr lang="en-US" dirty="0"/>
              <a:t>(115,115,115),17px </a:t>
            </a:r>
            <a:r>
              <a:rPr lang="en-US" dirty="0" err="1"/>
              <a:t>17px</a:t>
            </a:r>
            <a:r>
              <a:rPr lang="en-US" dirty="0"/>
              <a:t> 0 </a:t>
            </a:r>
            <a:r>
              <a:rPr lang="en-US" dirty="0" err="1"/>
              <a:t>rgb</a:t>
            </a:r>
            <a:r>
              <a:rPr lang="en-US" dirty="0"/>
              <a:t>(107,107,107),18px </a:t>
            </a:r>
            <a:r>
              <a:rPr lang="en-US" dirty="0" err="1"/>
              <a:t>18px</a:t>
            </a:r>
            <a:r>
              <a:rPr lang="en-US" dirty="0"/>
              <a:t> 0 </a:t>
            </a:r>
            <a:r>
              <a:rPr lang="en-US" dirty="0" err="1"/>
              <a:t>rgb</a:t>
            </a:r>
            <a:r>
              <a:rPr lang="en-US" dirty="0"/>
              <a:t>(100,100,100),19px </a:t>
            </a:r>
            <a:r>
              <a:rPr lang="en-US" dirty="0" err="1"/>
              <a:t>19px</a:t>
            </a:r>
            <a:r>
              <a:rPr lang="en-US" dirty="0"/>
              <a:t> 0 </a:t>
            </a:r>
            <a:r>
              <a:rPr lang="en-US" dirty="0" err="1"/>
              <a:t>rgb</a:t>
            </a:r>
            <a:r>
              <a:rPr lang="en-US" dirty="0"/>
              <a:t>(92,92,92), 20px </a:t>
            </a:r>
            <a:r>
              <a:rPr lang="en-US" dirty="0" err="1"/>
              <a:t>20px</a:t>
            </a:r>
            <a:r>
              <a:rPr lang="en-US" dirty="0"/>
              <a:t> 0 </a:t>
            </a:r>
            <a:r>
              <a:rPr lang="en-US" dirty="0" err="1"/>
              <a:t>rgb</a:t>
            </a:r>
            <a:r>
              <a:rPr lang="en-US" dirty="0"/>
              <a:t>(84,84,84),21px </a:t>
            </a:r>
            <a:r>
              <a:rPr lang="en-US" dirty="0" err="1"/>
              <a:t>21px</a:t>
            </a:r>
            <a:r>
              <a:rPr lang="en-US" dirty="0"/>
              <a:t> 20px </a:t>
            </a:r>
            <a:r>
              <a:rPr lang="en-US" dirty="0" err="1"/>
              <a:t>rgba</a:t>
            </a:r>
            <a:r>
              <a:rPr lang="en-US" dirty="0"/>
              <a:t>(0,0,0,1),21px </a:t>
            </a:r>
            <a:r>
              <a:rPr lang="en-US" dirty="0" err="1"/>
              <a:t>21px</a:t>
            </a:r>
            <a:r>
              <a:rPr lang="en-US" dirty="0"/>
              <a:t> 1px </a:t>
            </a:r>
            <a:r>
              <a:rPr lang="en-US" dirty="0" err="1"/>
              <a:t>rgba</a:t>
            </a:r>
            <a:r>
              <a:rPr lang="en-US" dirty="0"/>
              <a:t>(0,0,0,0.5),0px </a:t>
            </a:r>
            <a:r>
              <a:rPr lang="en-US" dirty="0" err="1"/>
              <a:t>0px</a:t>
            </a:r>
            <a:r>
              <a:rPr lang="en-US" dirty="0"/>
              <a:t> 20px </a:t>
            </a:r>
            <a:r>
              <a:rPr lang="en-US" dirty="0" err="1"/>
              <a:t>rgba</a:t>
            </a:r>
            <a:r>
              <a:rPr lang="en-US" dirty="0"/>
              <a:t>(0,0,0,.2);</a:t>
            </a:r>
          </a:p>
          <a:p>
            <a:r>
              <a:rPr lang="en-US" dirty="0"/>
              <a:t>}</a:t>
            </a:r>
          </a:p>
        </p:txBody>
      </p:sp>
    </p:spTree>
    <p:extLst>
      <p:ext uri="{BB962C8B-B14F-4D97-AF65-F5344CB8AC3E}">
        <p14:creationId xmlns:p14="http://schemas.microsoft.com/office/powerpoint/2010/main" val="33807824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CSS Text Moving Effect</a:t>
            </a:r>
          </a:p>
          <a:p>
            <a:pPr fontAlgn="base"/>
            <a:r>
              <a:rPr lang="en-US" dirty="0"/>
              <a:t>Move texts show important information to the user.</a:t>
            </a:r>
          </a:p>
          <a:p>
            <a:pPr fontAlgn="base"/>
            <a:r>
              <a:rPr lang="en-US" dirty="0"/>
              <a:t>Some of the websites contains a moving text before the header to show important information about an advertisement, an offer, etc.</a:t>
            </a:r>
          </a:p>
          <a:p>
            <a:pPr fontAlgn="base"/>
            <a:r>
              <a:rPr lang="en-US" dirty="0"/>
              <a:t>Let us create that using the animation.</a:t>
            </a:r>
          </a:p>
          <a:p>
            <a:endParaRPr lang="en-US" dirty="0"/>
          </a:p>
        </p:txBody>
      </p:sp>
    </p:spTree>
    <p:extLst>
      <p:ext uri="{BB962C8B-B14F-4D97-AF65-F5344CB8AC3E}">
        <p14:creationId xmlns:p14="http://schemas.microsoft.com/office/powerpoint/2010/main" val="22510271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25000" lnSpcReduction="20000"/>
          </a:bodyPr>
          <a:lstStyle/>
          <a:p>
            <a:r>
              <a:rPr lang="en-US" dirty="0"/>
              <a:t>.animation-ex1 {</a:t>
            </a:r>
          </a:p>
          <a:p>
            <a:r>
              <a:rPr lang="en-US" dirty="0"/>
              <a:t>  </a:t>
            </a:r>
            <a:r>
              <a:rPr lang="en-US" dirty="0" err="1"/>
              <a:t>position:relative</a:t>
            </a:r>
            <a:r>
              <a:rPr lang="en-US" dirty="0"/>
              <a:t>;		 </a:t>
            </a:r>
          </a:p>
          <a:p>
            <a:r>
              <a:rPr lang="en-US" dirty="0"/>
              <a:t>  font-size:25px;</a:t>
            </a:r>
          </a:p>
          <a:p>
            <a:r>
              <a:rPr lang="en-US" dirty="0"/>
              <a:t>  -</a:t>
            </a:r>
            <a:r>
              <a:rPr lang="en-US" dirty="0" err="1"/>
              <a:t>webkit-animation:txt-moving</a:t>
            </a:r>
            <a:r>
              <a:rPr lang="en-US" dirty="0"/>
              <a:t> 5s linear infinite;</a:t>
            </a:r>
          </a:p>
          <a:p>
            <a:r>
              <a:rPr lang="en-US" dirty="0"/>
              <a:t>  </a:t>
            </a:r>
            <a:r>
              <a:rPr lang="en-US" dirty="0" err="1"/>
              <a:t>animation:txt-moving</a:t>
            </a:r>
            <a:r>
              <a:rPr lang="en-US" dirty="0"/>
              <a:t> 5s linear infinite;</a:t>
            </a:r>
          </a:p>
          <a:p>
            <a:r>
              <a:rPr lang="en-US" dirty="0"/>
              <a:t>}</a:t>
            </a:r>
          </a:p>
          <a:p>
            <a:endParaRPr lang="en-US" dirty="0"/>
          </a:p>
          <a:p>
            <a:r>
              <a:rPr lang="en-US" dirty="0"/>
              <a:t>@-</a:t>
            </a:r>
            <a:r>
              <a:rPr lang="en-US" dirty="0" err="1"/>
              <a:t>webkit-keyframes</a:t>
            </a:r>
            <a:r>
              <a:rPr lang="en-US" dirty="0"/>
              <a:t> txt-moving {</a:t>
            </a:r>
          </a:p>
          <a:p>
            <a:r>
              <a:rPr lang="en-US" dirty="0"/>
              <a:t> 0% {left:0;}</a:t>
            </a:r>
          </a:p>
          <a:p>
            <a:r>
              <a:rPr lang="en-US" dirty="0"/>
              <a:t> 50% {left:50%;}</a:t>
            </a:r>
          </a:p>
          <a:p>
            <a:r>
              <a:rPr lang="en-US" dirty="0"/>
              <a:t> 100% {left:100%;}</a:t>
            </a:r>
          </a:p>
          <a:p>
            <a:r>
              <a:rPr lang="en-US" dirty="0"/>
              <a:t>}</a:t>
            </a:r>
          </a:p>
          <a:p>
            <a:endParaRPr lang="en-US" dirty="0"/>
          </a:p>
          <a:p>
            <a:r>
              <a:rPr lang="en-US" dirty="0"/>
              <a:t>@</a:t>
            </a:r>
            <a:r>
              <a:rPr lang="en-US" dirty="0" err="1"/>
              <a:t>keyframes</a:t>
            </a:r>
            <a:r>
              <a:rPr lang="en-US" dirty="0"/>
              <a:t> txt-moving {</a:t>
            </a:r>
          </a:p>
          <a:p>
            <a:r>
              <a:rPr lang="en-US" dirty="0"/>
              <a:t> 0% {left:0;}</a:t>
            </a:r>
          </a:p>
          <a:p>
            <a:r>
              <a:rPr lang="en-US" dirty="0"/>
              <a:t> 50% {left:50%;}</a:t>
            </a:r>
          </a:p>
          <a:p>
            <a:r>
              <a:rPr lang="en-US" dirty="0"/>
              <a:t> 100% {left:100%;}</a:t>
            </a:r>
          </a:p>
          <a:p>
            <a:r>
              <a:rPr lang="en-US" dirty="0"/>
              <a:t>}</a:t>
            </a:r>
          </a:p>
        </p:txBody>
      </p:sp>
    </p:spTree>
    <p:extLst>
      <p:ext uri="{BB962C8B-B14F-4D97-AF65-F5344CB8AC3E}">
        <p14:creationId xmlns:p14="http://schemas.microsoft.com/office/powerpoint/2010/main" val="1036575085"/>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353</TotalTime>
  <Words>4662</Words>
  <Application>Microsoft Office PowerPoint</Application>
  <PresentationFormat>Widescreen</PresentationFormat>
  <Paragraphs>472</Paragraphs>
  <Slides>80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Trebuchet MS</vt:lpstr>
      <vt:lpstr>Berlin</vt:lpstr>
      <vt:lpstr>CSS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CSS</dc:title>
  <dc:creator>Vivek Puranik</dc:creator>
  <cp:lastModifiedBy>Vivek Puranik</cp:lastModifiedBy>
  <cp:revision>16</cp:revision>
  <dcterms:created xsi:type="dcterms:W3CDTF">2022-05-09T05:07:24Z</dcterms:created>
  <dcterms:modified xsi:type="dcterms:W3CDTF">2022-05-09T11:59:31Z</dcterms:modified>
</cp:coreProperties>
</file>