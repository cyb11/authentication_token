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342" r:id="rId7"/>
    <p:sldId id="269" r:id="rId8"/>
    <p:sldId id="262" r:id="rId9"/>
    <p:sldId id="263" r:id="rId10"/>
    <p:sldId id="266" r:id="rId11"/>
    <p:sldId id="264" r:id="rId12"/>
    <p:sldId id="265" r:id="rId13"/>
    <p:sldId id="267"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7" r:id="rId31"/>
    <p:sldId id="286" r:id="rId32"/>
    <p:sldId id="288" r:id="rId33"/>
    <p:sldId id="289" r:id="rId34"/>
    <p:sldId id="290" r:id="rId35"/>
    <p:sldId id="291" r:id="rId36"/>
    <p:sldId id="292" r:id="rId37"/>
    <p:sldId id="293" r:id="rId38"/>
    <p:sldId id="294" r:id="rId39"/>
    <p:sldId id="295" r:id="rId40"/>
    <p:sldId id="296" r:id="rId41"/>
    <p:sldId id="297" r:id="rId42"/>
    <p:sldId id="298" r:id="rId43"/>
    <p:sldId id="300" r:id="rId44"/>
    <p:sldId id="299"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5" autoAdjust="0"/>
    <p:restoredTop sz="94660"/>
  </p:normalViewPr>
  <p:slideViewPr>
    <p:cSldViewPr snapToGrid="0">
      <p:cViewPr varScale="1">
        <p:scale>
          <a:sx n="81" d="100"/>
          <a:sy n="81" d="100"/>
        </p:scale>
        <p:origin x="126" y="6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5/9/2022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5/9/2022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5/9/2022</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5/9/2022</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html5.or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eveloper.mozilla.org/en-US/docs/Glossary/Tag" TargetMode="External"/><Relationship Id="rId2" Type="http://schemas.openxmlformats.org/officeDocument/2006/relationships/hyperlink" Target="https://developer.mozilla.org/en-US/docs/Glossary/Element"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developer.mozilla.org/en-US/docs/Learn/Getting_started_with_the_web/HTML_basics#anatomy_of_an_html_element"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w3docs.com/learn-html/html-footer-tag.html" TargetMode="External"/><Relationship Id="rId2" Type="http://schemas.openxmlformats.org/officeDocument/2006/relationships/hyperlink" Target="https://www.w3docs.com/learn-html/html-div-tag.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w3docs.com/learn-html/html-header-tag.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w3docs.com/learn-html/html-nav-tag.ht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w3docs.com/learn-html/html-article-tag.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w3docs.com/learn-html/html-section-tag.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w3docs.com/learn-html/html-aside-tag.html"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w3docs.com/learn-html/html-footer-tag.htm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w3docs.com/learn-html/html-address-tag.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w3docs.com/learn-html/html-main-tag.html"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w3docs.com/learn-html/html-figure-tag.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w3docs.com/learn-html/html-figcaption-tag.html"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w3docs.com/learn-html/html-time-tag.html"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www.w3docs.com/learn-html/html-mark-tag.html"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w3docs.com/learn-html/html-bdi-tag.html"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www.w3docs.com/learn-html/html-wbr-tag.html"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Html &amp; Html-5 </a:t>
            </a:r>
            <a:endParaRPr lang="en-US" dirty="0"/>
          </a:p>
        </p:txBody>
      </p:sp>
      <p:sp>
        <p:nvSpPr>
          <p:cNvPr id="3" name="Subtitle 2"/>
          <p:cNvSpPr>
            <a:spLocks noGrp="1"/>
          </p:cNvSpPr>
          <p:nvPr>
            <p:ph type="subTitle" idx="1"/>
          </p:nvPr>
        </p:nvSpPr>
        <p:spPr/>
        <p:txBody>
          <a:bodyPr/>
          <a:lstStyle/>
          <a:p>
            <a:r>
              <a:rPr lang="en-IN" dirty="0" smtClean="0"/>
              <a:t>Hyper Text Mark Up Language</a:t>
            </a:r>
            <a:endParaRPr lang="en-US" dirty="0"/>
          </a:p>
        </p:txBody>
      </p:sp>
    </p:spTree>
    <p:extLst>
      <p:ext uri="{BB962C8B-B14F-4D97-AF65-F5344CB8AC3E}">
        <p14:creationId xmlns:p14="http://schemas.microsoft.com/office/powerpoint/2010/main" val="2589517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HTML stands for Hypertext Markup Language </a:t>
            </a:r>
            <a:r>
              <a:rPr lang="en-US" dirty="0" smtClean="0"/>
              <a:t>.</a:t>
            </a:r>
          </a:p>
          <a:p>
            <a:r>
              <a:rPr lang="en-US" dirty="0" smtClean="0"/>
              <a:t>Html is used to make UI pages </a:t>
            </a:r>
            <a:r>
              <a:rPr lang="en-US" dirty="0" smtClean="0"/>
              <a:t>to </a:t>
            </a:r>
            <a:r>
              <a:rPr lang="en-US" dirty="0"/>
              <a:t>develop web </a:t>
            </a:r>
            <a:r>
              <a:rPr lang="en-US" dirty="0" smtClean="0"/>
              <a:t>pages.</a:t>
            </a:r>
          </a:p>
          <a:p>
            <a:endParaRPr lang="en-US" dirty="0" smtClean="0"/>
          </a:p>
          <a:p>
            <a:r>
              <a:rPr lang="en-US" dirty="0"/>
              <a:t>A </a:t>
            </a:r>
            <a:r>
              <a:rPr lang="en-US" b="1" dirty="0"/>
              <a:t>Markup Language</a:t>
            </a:r>
            <a:r>
              <a:rPr lang="en-US" dirty="0"/>
              <a:t> is a way that computers speak to each other to control how text is processed and presented. </a:t>
            </a:r>
            <a:endParaRPr lang="en-US" dirty="0" smtClean="0"/>
          </a:p>
          <a:p>
            <a:r>
              <a:rPr lang="en-US" dirty="0" smtClean="0"/>
              <a:t>To </a:t>
            </a:r>
            <a:r>
              <a:rPr lang="en-US" dirty="0"/>
              <a:t>do this HTML uses two things: tags and </a:t>
            </a:r>
            <a:r>
              <a:rPr lang="en-US" b="1" dirty="0"/>
              <a:t>attributes</a:t>
            </a:r>
            <a:r>
              <a:rPr lang="en-US" dirty="0"/>
              <a:t>.</a:t>
            </a:r>
          </a:p>
          <a:p>
            <a:endParaRPr lang="en-US" dirty="0"/>
          </a:p>
        </p:txBody>
      </p:sp>
    </p:spTree>
    <p:extLst>
      <p:ext uri="{BB962C8B-B14F-4D97-AF65-F5344CB8AC3E}">
        <p14:creationId xmlns:p14="http://schemas.microsoft.com/office/powerpoint/2010/main" val="2664272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HTML stands for Hyper Text Mark-up Language, one of the document formats of the World Wide Web . </a:t>
            </a:r>
            <a:endParaRPr lang="en-US" dirty="0" smtClean="0"/>
          </a:p>
          <a:p>
            <a:endParaRPr lang="en-US" dirty="0"/>
          </a:p>
          <a:p>
            <a:r>
              <a:rPr lang="en-US" dirty="0" smtClean="0"/>
              <a:t>HTML </a:t>
            </a:r>
            <a:r>
              <a:rPr lang="en-US" dirty="0"/>
              <a:t>files that generate Web pages are just text documents with .html or .</a:t>
            </a:r>
            <a:r>
              <a:rPr lang="en-US" dirty="0" err="1"/>
              <a:t>htm</a:t>
            </a:r>
            <a:r>
              <a:rPr lang="en-US" dirty="0"/>
              <a:t> file extensions .</a:t>
            </a:r>
          </a:p>
        </p:txBody>
      </p:sp>
    </p:spTree>
    <p:extLst>
      <p:ext uri="{BB962C8B-B14F-4D97-AF65-F5344CB8AC3E}">
        <p14:creationId xmlns:p14="http://schemas.microsoft.com/office/powerpoint/2010/main" val="3087684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Html History</a:t>
            </a:r>
            <a:endParaRPr lang="en-US" dirty="0"/>
          </a:p>
        </p:txBody>
      </p:sp>
      <p:sp>
        <p:nvSpPr>
          <p:cNvPr id="3" name="Content Placeholder 2"/>
          <p:cNvSpPr>
            <a:spLocks noGrp="1"/>
          </p:cNvSpPr>
          <p:nvPr>
            <p:ph idx="1"/>
          </p:nvPr>
        </p:nvSpPr>
        <p:spPr/>
        <p:txBody>
          <a:bodyPr/>
          <a:lstStyle/>
          <a:p>
            <a:r>
              <a:rPr lang="en-US" dirty="0"/>
              <a:t>HTML was originally developed by Tim Berners-Lee in 1990</a:t>
            </a:r>
            <a:r>
              <a:rPr lang="en-US" dirty="0" smtClean="0"/>
              <a:t>.</a:t>
            </a:r>
          </a:p>
          <a:p>
            <a:r>
              <a:rPr lang="en-US" dirty="0" smtClean="0"/>
              <a:t> </a:t>
            </a:r>
            <a:r>
              <a:rPr lang="en-US" dirty="0"/>
              <a:t>He is also known as the father of the web. </a:t>
            </a:r>
            <a:endParaRPr lang="en-US" dirty="0" smtClean="0"/>
          </a:p>
          <a:p>
            <a:r>
              <a:rPr lang="en-US" dirty="0" smtClean="0"/>
              <a:t>In </a:t>
            </a:r>
            <a:r>
              <a:rPr lang="en-US" dirty="0"/>
              <a:t>1996, the World Wide Web Consortium (W3C) became the authority to maintain the HTML specifications. </a:t>
            </a:r>
            <a:endParaRPr lang="en-US" dirty="0" smtClean="0"/>
          </a:p>
          <a:p>
            <a:r>
              <a:rPr lang="en-US" dirty="0" smtClean="0"/>
              <a:t>HTML </a:t>
            </a:r>
            <a:r>
              <a:rPr lang="en-US" dirty="0"/>
              <a:t>also became an international standard (ISO) in 2000</a:t>
            </a:r>
            <a:r>
              <a:rPr lang="en-US" dirty="0" smtClean="0"/>
              <a:t>.</a:t>
            </a:r>
          </a:p>
          <a:p>
            <a:r>
              <a:rPr lang="en-US" dirty="0" smtClean="0"/>
              <a:t> </a:t>
            </a:r>
            <a:r>
              <a:rPr lang="en-US" dirty="0"/>
              <a:t>HTML5 is the latest version of HTML. HTML5 provides a faster and more robust approach to web development.</a:t>
            </a:r>
          </a:p>
        </p:txBody>
      </p:sp>
    </p:spTree>
    <p:extLst>
      <p:ext uri="{BB962C8B-B14F-4D97-AF65-F5344CB8AC3E}">
        <p14:creationId xmlns:p14="http://schemas.microsoft.com/office/powerpoint/2010/main" val="1671925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HTML 5 is the latest version of the HTML standard, and it offers many new features and improvements over previous versions. It’s designed to make website development faster and easier and provide a better user experience for people who visit your site.</a:t>
            </a:r>
          </a:p>
          <a:p>
            <a:r>
              <a:rPr lang="en-US" dirty="0"/>
              <a:t>One of the most notable features of </a:t>
            </a:r>
            <a:r>
              <a:rPr lang="en-US" dirty="0">
                <a:hlinkClick r:id="rId2"/>
              </a:rPr>
              <a:t>HTML 5</a:t>
            </a:r>
            <a:r>
              <a:rPr lang="en-US" dirty="0"/>
              <a:t> is its support for audio and video playback. With HTML 5, you can embed audio and video files directly into your web pages without using third-party plugins like Flash or QuickTime. </a:t>
            </a:r>
            <a:endParaRPr lang="en-US" dirty="0" smtClean="0"/>
          </a:p>
          <a:p>
            <a:endParaRPr lang="en-US" dirty="0"/>
          </a:p>
          <a:p>
            <a:r>
              <a:rPr lang="en-US" dirty="0" smtClean="0"/>
              <a:t>HTML </a:t>
            </a:r>
            <a:r>
              <a:rPr lang="en-US" dirty="0"/>
              <a:t>5 also includes new elements that make it easier to create interactive web applications.</a:t>
            </a:r>
          </a:p>
          <a:p>
            <a:r>
              <a:rPr lang="en-US" dirty="0"/>
              <a:t>For example, the &lt;canvas&gt; element can be used to create games, data visualizations, and other types of interactive content. And the &lt;</a:t>
            </a:r>
            <a:r>
              <a:rPr lang="en-US" dirty="0" err="1"/>
              <a:t>svg</a:t>
            </a:r>
            <a:r>
              <a:rPr lang="en-US" dirty="0"/>
              <a:t>&gt; element allows you to embed vector graphics directly into your web pages. </a:t>
            </a:r>
            <a:endParaRPr lang="en-US" dirty="0" smtClean="0"/>
          </a:p>
          <a:p>
            <a:endParaRPr lang="en-US" dirty="0"/>
          </a:p>
        </p:txBody>
      </p:sp>
    </p:spTree>
    <p:extLst>
      <p:ext uri="{BB962C8B-B14F-4D97-AF65-F5344CB8AC3E}">
        <p14:creationId xmlns:p14="http://schemas.microsoft.com/office/powerpoint/2010/main" val="651764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instance, HTML 5 offers better error handling and improved performance when parsing and rendering web pages. And the new version of the language is much more forgiving of errors, so it’s easier to create well-formed code that will work correctly in all browsers.</a:t>
            </a:r>
          </a:p>
          <a:p>
            <a:r>
              <a:rPr lang="en-US" dirty="0"/>
              <a:t>Overall, HTML 5 is a significant upgrade from previous versions of the HTML standard. It offers many new features and improvements that make website development faster and easier. </a:t>
            </a:r>
          </a:p>
          <a:p>
            <a:endParaRPr lang="en-US" dirty="0"/>
          </a:p>
        </p:txBody>
      </p:sp>
    </p:spTree>
    <p:extLst>
      <p:ext uri="{BB962C8B-B14F-4D97-AF65-F5344CB8AC3E}">
        <p14:creationId xmlns:p14="http://schemas.microsoft.com/office/powerpoint/2010/main" val="3047015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key difference between HTML and HTML 5</a:t>
            </a:r>
            <a:r>
              <a:rPr lang="en-US" b="1" dirty="0"/>
              <a:t> </a:t>
            </a:r>
            <a:r>
              <a:rPr lang="en-US" dirty="0"/>
              <a:t>is that HTML 5 is an updated version of the HTML language that offers many new features and improvements over previous versions.</a:t>
            </a:r>
          </a:p>
        </p:txBody>
      </p:sp>
    </p:spTree>
    <p:extLst>
      <p:ext uri="{BB962C8B-B14F-4D97-AF65-F5344CB8AC3E}">
        <p14:creationId xmlns:p14="http://schemas.microsoft.com/office/powerpoint/2010/main" val="652015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47356" y="2111242"/>
            <a:ext cx="9758545" cy="4386144"/>
          </a:xfrm>
          <a:prstGeom prst="rect">
            <a:avLst/>
          </a:prstGeom>
        </p:spPr>
      </p:pic>
    </p:spTree>
    <p:extLst>
      <p:ext uri="{BB962C8B-B14F-4D97-AF65-F5344CB8AC3E}">
        <p14:creationId xmlns:p14="http://schemas.microsoft.com/office/powerpoint/2010/main" val="885544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Benefits </a:t>
            </a:r>
            <a:r>
              <a:rPr lang="en-US" dirty="0"/>
              <a:t>Of Using HTML5 Over </a:t>
            </a:r>
            <a:r>
              <a:rPr lang="en-US" dirty="0" smtClean="0"/>
              <a:t>HTML</a:t>
            </a:r>
            <a:r>
              <a:rPr lang="en-US" dirty="0"/>
              <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1.Easy </a:t>
            </a:r>
            <a:r>
              <a:rPr lang="en-US" dirty="0"/>
              <a:t>to use HTML</a:t>
            </a:r>
          </a:p>
          <a:p>
            <a:r>
              <a:rPr lang="en-US" dirty="0"/>
              <a:t>HTML5 is much easier to use than HTML. There are fewer tags and attributes to remember, and the syntax is more straightforward. This makes it quicker and easier to write code, saving time in the development process.</a:t>
            </a:r>
          </a:p>
          <a:p>
            <a:endParaRPr lang="en-US" dirty="0"/>
          </a:p>
          <a:p>
            <a:r>
              <a:rPr lang="en-US" dirty="0"/>
              <a:t>2. Better User Experience</a:t>
            </a:r>
          </a:p>
          <a:p>
            <a:r>
              <a:rPr lang="en-US" dirty="0"/>
              <a:t>Better User Experience</a:t>
            </a:r>
          </a:p>
          <a:p>
            <a:r>
              <a:rPr lang="en-US" dirty="0"/>
              <a:t>HTML5 offers a better user experience than HTML. The new features make it possible to create more interactive and responsive websites. This results in a more enjoyable experience for people who visit your site.</a:t>
            </a:r>
          </a:p>
          <a:p>
            <a:endParaRPr lang="en-US" dirty="0"/>
          </a:p>
          <a:p>
            <a:r>
              <a:rPr lang="en-US" dirty="0"/>
              <a:t>3. More Powerful</a:t>
            </a:r>
          </a:p>
          <a:p>
            <a:r>
              <a:rPr lang="en-US" dirty="0"/>
              <a:t>Powerful</a:t>
            </a:r>
          </a:p>
          <a:p>
            <a:r>
              <a:rPr lang="en-US" dirty="0"/>
              <a:t>HTML5 is more powerful than HTML. The new features allow you to do more with your website, including adding multimedia content and creating sophisticated effects. This makes your site more engaging and impressive.</a:t>
            </a:r>
          </a:p>
          <a:p>
            <a:endParaRPr lang="en-US" dirty="0"/>
          </a:p>
          <a:p>
            <a:endParaRPr lang="en-US" dirty="0"/>
          </a:p>
          <a:p>
            <a:endParaRPr lang="en-US" dirty="0"/>
          </a:p>
        </p:txBody>
      </p:sp>
    </p:spTree>
    <p:extLst>
      <p:ext uri="{BB962C8B-B14F-4D97-AF65-F5344CB8AC3E}">
        <p14:creationId xmlns:p14="http://schemas.microsoft.com/office/powerpoint/2010/main" val="14208356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4. Faster Development</a:t>
            </a:r>
          </a:p>
          <a:p>
            <a:r>
              <a:rPr lang="en-US" dirty="0"/>
              <a:t>faster development</a:t>
            </a:r>
          </a:p>
          <a:p>
            <a:r>
              <a:rPr lang="en-US" dirty="0"/>
              <a:t>HTML5 enables faster development than HTML. The simplified syntax and new features make it possible to build websites quicker. This saves time and money in the development process.</a:t>
            </a:r>
          </a:p>
          <a:p>
            <a:endParaRPr lang="en-US" dirty="0"/>
          </a:p>
          <a:p>
            <a:r>
              <a:rPr lang="en-US" dirty="0"/>
              <a:t>5. Future-Proof</a:t>
            </a:r>
          </a:p>
          <a:p>
            <a:r>
              <a:rPr lang="en-US" dirty="0"/>
              <a:t>future-proof</a:t>
            </a:r>
          </a:p>
          <a:p>
            <a:r>
              <a:rPr lang="en-US" dirty="0"/>
              <a:t>HTML5 is the future of web development. The new features are designed to make website development more efficient and effective. This means that your site will be able to take advantage of the latest advances in technology as they become available.</a:t>
            </a:r>
          </a:p>
          <a:p>
            <a:endParaRPr lang="en-US" dirty="0"/>
          </a:p>
        </p:txBody>
      </p:sp>
    </p:spTree>
    <p:extLst>
      <p:ext uri="{BB962C8B-B14F-4D97-AF65-F5344CB8AC3E}">
        <p14:creationId xmlns:p14="http://schemas.microsoft.com/office/powerpoint/2010/main" val="2839544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Why </a:t>
            </a:r>
            <a:r>
              <a:rPr lang="en-US" dirty="0"/>
              <a:t>HTML 5 Is Better Than HTML?</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HTML </a:t>
            </a:r>
            <a:r>
              <a:rPr lang="en-US" dirty="0"/>
              <a:t>5 offers some features that HTML doesn’t have. Some of these features are:</a:t>
            </a:r>
          </a:p>
          <a:p>
            <a:endParaRPr lang="en-US" dirty="0"/>
          </a:p>
          <a:p>
            <a:r>
              <a:rPr lang="en-US" dirty="0"/>
              <a:t>1. Improved semantics: HTML 5 has new elements, attributes, and APIs that give developers more control over how content is presented and interacted with. This makes it easier to create meaningful and accessible web pages.</a:t>
            </a:r>
          </a:p>
          <a:p>
            <a:endParaRPr lang="en-US" dirty="0"/>
          </a:p>
          <a:p>
            <a:r>
              <a:rPr lang="en-US" dirty="0"/>
              <a:t>2. Offline storage: HTML 5 can store data locally on the user’s device, so websites can work even if the user is offline. This is especially useful for mobile devices, where network connectivity can be unreliable.</a:t>
            </a:r>
          </a:p>
          <a:p>
            <a:endParaRPr lang="en-US" dirty="0"/>
          </a:p>
          <a:p>
            <a:r>
              <a:rPr lang="en-US" dirty="0"/>
              <a:t>3. Better performance: HTML 5 includes features that make websites load faster and run more smoothly. For example, the new ‘</a:t>
            </a:r>
            <a:r>
              <a:rPr lang="en-US" dirty="0" err="1"/>
              <a:t>async</a:t>
            </a:r>
            <a:r>
              <a:rPr lang="en-US" dirty="0"/>
              <a:t>’ attribute on script tags allows scripts to load in the background without blocking the page rendering.</a:t>
            </a:r>
          </a:p>
          <a:p>
            <a:endParaRPr lang="en-US" dirty="0"/>
          </a:p>
          <a:p>
            <a:r>
              <a:rPr lang="en-US" dirty="0"/>
              <a:t>4. New elements: Some of the new elements in HTML 5 include ‘article’, ‘header’, and ‘canvas’. These elements provide more semantics and structure to web pages, making them easier to read and understand.</a:t>
            </a:r>
          </a:p>
          <a:p>
            <a:endParaRPr lang="en-US" dirty="0"/>
          </a:p>
          <a:p>
            <a:r>
              <a:rPr lang="en-US" dirty="0"/>
              <a:t>5. New attributes: HTML 5 has new attributes that give developers more control over presenting content. For example, the ‘</a:t>
            </a:r>
            <a:r>
              <a:rPr lang="en-US" dirty="0" err="1"/>
              <a:t>contenteditable</a:t>
            </a:r>
            <a:r>
              <a:rPr lang="en-US" dirty="0"/>
              <a:t>’ attribute can be used to make any element editable by the user.</a:t>
            </a:r>
          </a:p>
          <a:p>
            <a:endParaRPr lang="en-US" dirty="0"/>
          </a:p>
        </p:txBody>
      </p:sp>
    </p:spTree>
    <p:extLst>
      <p:ext uri="{BB962C8B-B14F-4D97-AF65-F5344CB8AC3E}">
        <p14:creationId xmlns:p14="http://schemas.microsoft.com/office/powerpoint/2010/main" val="697538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endParaRPr lang="en-US" dirty="0"/>
          </a:p>
          <a:p>
            <a:r>
              <a:rPr lang="en-US" dirty="0"/>
              <a:t>6. Improved forms: HTML 5 includes many new features that improve the way forms work. For example, the ‘placeholder’ attribute can be used to hint what they should enter into a field to the user.</a:t>
            </a:r>
          </a:p>
          <a:p>
            <a:endParaRPr lang="en-US" dirty="0"/>
          </a:p>
          <a:p>
            <a:r>
              <a:rPr lang="en-US" dirty="0"/>
              <a:t>7. Designed to be more interoperable with other technologies: One of the goals of HTML 5 is to be more compatible with other technologies such as CSS and JavaScript. This makes it easier to create websites that work well across different browsers and devices.</a:t>
            </a:r>
          </a:p>
          <a:p>
            <a:endParaRPr lang="en-US" dirty="0"/>
          </a:p>
          <a:p>
            <a:r>
              <a:rPr lang="en-US" dirty="0"/>
              <a:t>8. New APIs: HTML 5 includes new APIs that give developers more control over how content is presented and interacted. For example, the ‘history’ API allows developers to manage the browser’s history to create a custom back/forward buttons or track the user’s progress through a page.</a:t>
            </a:r>
          </a:p>
          <a:p>
            <a:r>
              <a:rPr lang="en-US" dirty="0"/>
              <a:t>10. Deprecated features: Some features present in earlier versions of HTML have been deprecated in HTML 5. For example, the ‘target’ attribute on links is no longer supported. This means developers need to be aware of the changes to create websites that work well across all browsers and devices.</a:t>
            </a:r>
          </a:p>
          <a:p>
            <a:endParaRPr lang="en-US" dirty="0"/>
          </a:p>
          <a:p>
            <a:endParaRPr lang="en-US" dirty="0"/>
          </a:p>
        </p:txBody>
      </p:sp>
    </p:spTree>
    <p:extLst>
      <p:ext uri="{BB962C8B-B14F-4D97-AF65-F5344CB8AC3E}">
        <p14:creationId xmlns:p14="http://schemas.microsoft.com/office/powerpoint/2010/main" val="3706997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a:t>HTML5 is the newest specification for HTML, the language that web browsers read to display web pages</a:t>
            </a:r>
            <a:r>
              <a:rPr lang="en-US" dirty="0"/>
              <a:t>. HTML5 has many new features intended to make creating websites easier and people's experience in using those websites better. Among those features are many enhancements to web forms.</a:t>
            </a:r>
          </a:p>
        </p:txBody>
      </p:sp>
    </p:spTree>
    <p:extLst>
      <p:ext uri="{BB962C8B-B14F-4D97-AF65-F5344CB8AC3E}">
        <p14:creationId xmlns:p14="http://schemas.microsoft.com/office/powerpoint/2010/main" val="3882525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dirty="0" smtClean="0"/>
              <a:t>HTML5 </a:t>
            </a:r>
            <a:r>
              <a:rPr lang="en-US" dirty="0"/>
              <a:t>document with HTML5 </a:t>
            </a:r>
            <a:r>
              <a:rPr lang="en-US" dirty="0" err="1" smtClean="0"/>
              <a:t>doctype</a:t>
            </a: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&lt;!</a:t>
            </a:r>
            <a:r>
              <a:rPr lang="en-US" dirty="0"/>
              <a:t>DOCTYPE HTML&gt;</a:t>
            </a:r>
          </a:p>
          <a:p>
            <a:r>
              <a:rPr lang="en-US" dirty="0"/>
              <a:t>&lt;html </a:t>
            </a:r>
            <a:r>
              <a:rPr lang="en-US" dirty="0" err="1"/>
              <a:t>lang</a:t>
            </a:r>
            <a:r>
              <a:rPr lang="en-US" dirty="0"/>
              <a:t>="</a:t>
            </a:r>
            <a:r>
              <a:rPr lang="en-US" dirty="0" err="1"/>
              <a:t>en</a:t>
            </a:r>
            <a:r>
              <a:rPr lang="en-US" dirty="0"/>
              <a:t>"&gt;</a:t>
            </a:r>
          </a:p>
          <a:p>
            <a:r>
              <a:rPr lang="en-US" dirty="0"/>
              <a:t>&lt;head&gt;</a:t>
            </a:r>
          </a:p>
          <a:p>
            <a:r>
              <a:rPr lang="en-US" dirty="0"/>
              <a:t>&lt;meta charset=utf-8&gt;</a:t>
            </a:r>
          </a:p>
          <a:p>
            <a:r>
              <a:rPr lang="en-US" dirty="0"/>
              <a:t>&lt;title&gt;HTML5 </a:t>
            </a:r>
            <a:r>
              <a:rPr lang="en-US" dirty="0" err="1"/>
              <a:t>doctype</a:t>
            </a:r>
            <a:r>
              <a:rPr lang="en-US" dirty="0"/>
              <a:t> example&lt;/title&gt;</a:t>
            </a:r>
          </a:p>
          <a:p>
            <a:r>
              <a:rPr lang="en-US" dirty="0"/>
              <a:t>&lt;/head&gt;</a:t>
            </a:r>
          </a:p>
          <a:p>
            <a:r>
              <a:rPr lang="en-US" dirty="0"/>
              <a:t>&lt;body&gt;</a:t>
            </a:r>
          </a:p>
          <a:p>
            <a:r>
              <a:rPr lang="en-US" dirty="0"/>
              <a:t>&lt;h1&gt;Tutorial of HTML5 </a:t>
            </a:r>
            <a:r>
              <a:rPr lang="en-US" dirty="0" err="1"/>
              <a:t>doctype</a:t>
            </a:r>
            <a:r>
              <a:rPr lang="en-US" dirty="0"/>
              <a:t>&lt;/h1&gt;</a:t>
            </a:r>
          </a:p>
          <a:p>
            <a:r>
              <a:rPr lang="en-US" dirty="0"/>
              <a:t>&lt;p&gt;HTML5 has loads of new </a:t>
            </a:r>
            <a:r>
              <a:rPr lang="en-US" dirty="0" err="1"/>
              <a:t>exiciting</a:t>
            </a:r>
            <a:r>
              <a:rPr lang="en-US" dirty="0"/>
              <a:t> features.&lt;/p&gt;</a:t>
            </a:r>
          </a:p>
          <a:p>
            <a:r>
              <a:rPr lang="en-US" dirty="0"/>
              <a:t>&lt;/body&gt;</a:t>
            </a:r>
          </a:p>
          <a:p>
            <a:r>
              <a:rPr lang="en-US" dirty="0"/>
              <a:t>&lt;/html&gt;</a:t>
            </a:r>
          </a:p>
        </p:txBody>
      </p:sp>
    </p:spTree>
    <p:extLst>
      <p:ext uri="{BB962C8B-B14F-4D97-AF65-F5344CB8AC3E}">
        <p14:creationId xmlns:p14="http://schemas.microsoft.com/office/powerpoint/2010/main" val="246928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Definition and Usage</a:t>
            </a:r>
          </a:p>
          <a:p>
            <a:r>
              <a:rPr lang="en-US" dirty="0"/>
              <a:t>All HTML documents must start with a &lt;!DOCTYPE&gt; declaration.</a:t>
            </a:r>
          </a:p>
          <a:p>
            <a:endParaRPr lang="en-US" dirty="0"/>
          </a:p>
          <a:p>
            <a:r>
              <a:rPr lang="en-US" dirty="0"/>
              <a:t>The declaration is not an HTML tag. It is an "information" to the browser about what document type to expect.</a:t>
            </a:r>
          </a:p>
          <a:p>
            <a:endParaRPr lang="en-US" dirty="0"/>
          </a:p>
          <a:p>
            <a:r>
              <a:rPr lang="en-US" dirty="0"/>
              <a:t>In HTML 5, the declaration is simple:</a:t>
            </a:r>
          </a:p>
          <a:p>
            <a:endParaRPr lang="en-US" dirty="0"/>
          </a:p>
          <a:p>
            <a:r>
              <a:rPr lang="en-US" dirty="0"/>
              <a:t>&lt;!DOCTYPE html&gt;</a:t>
            </a:r>
          </a:p>
        </p:txBody>
      </p:sp>
    </p:spTree>
    <p:extLst>
      <p:ext uri="{BB962C8B-B14F-4D97-AF65-F5344CB8AC3E}">
        <p14:creationId xmlns:p14="http://schemas.microsoft.com/office/powerpoint/2010/main" val="3721823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80321" y="2426561"/>
            <a:ext cx="9543542" cy="2737622"/>
          </a:xfrm>
          <a:prstGeom prst="rect">
            <a:avLst/>
          </a:prstGeom>
        </p:spPr>
      </p:pic>
    </p:spTree>
    <p:extLst>
      <p:ext uri="{BB962C8B-B14F-4D97-AF65-F5344CB8AC3E}">
        <p14:creationId xmlns:p14="http://schemas.microsoft.com/office/powerpoint/2010/main" val="4117427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Older HTML Documents</a:t>
            </a:r>
          </a:p>
          <a:p>
            <a:r>
              <a:rPr lang="en-US" dirty="0"/>
              <a:t>In older documents (HTML 4 or XHTML), the declaration is more complicated because the declaration must refer to a DTD (Document Type Definition).</a:t>
            </a:r>
          </a:p>
          <a:p>
            <a:endParaRPr lang="en-US" dirty="0"/>
          </a:p>
          <a:p>
            <a:r>
              <a:rPr lang="en-US" dirty="0"/>
              <a:t>HTML 4.01:</a:t>
            </a:r>
          </a:p>
          <a:p>
            <a:endParaRPr lang="en-US" dirty="0"/>
          </a:p>
          <a:p>
            <a:r>
              <a:rPr lang="en-US" dirty="0"/>
              <a:t>&lt;!DOCTYPE HTML PUBLIC "-//W3C//DTD HTML 4.01 Transitional//EN" "http://www.w3.org/TR/html4/loose.dtd"&gt;</a:t>
            </a:r>
          </a:p>
          <a:p>
            <a:r>
              <a:rPr lang="en-US" dirty="0"/>
              <a:t>XHTML 1.1:</a:t>
            </a:r>
          </a:p>
          <a:p>
            <a:endParaRPr lang="en-US" dirty="0"/>
          </a:p>
          <a:p>
            <a:r>
              <a:rPr lang="en-US" dirty="0"/>
              <a:t>&lt;!DOCTYPE html PUBLIC "-//W3C//DTD XHTML 1.1//EN" "http://www.w3.org/TR/xhtml11/DTD/xhtml11.dtd"&gt;</a:t>
            </a:r>
          </a:p>
        </p:txBody>
      </p:sp>
    </p:spTree>
    <p:extLst>
      <p:ext uri="{BB962C8B-B14F-4D97-AF65-F5344CB8AC3E}">
        <p14:creationId xmlns:p14="http://schemas.microsoft.com/office/powerpoint/2010/main" val="3500764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&lt;!DOCTYPE&gt; declaration is NOT case sensitive.</a:t>
            </a:r>
          </a:p>
          <a:p>
            <a:endParaRPr lang="en-US" dirty="0"/>
          </a:p>
          <a:p>
            <a:r>
              <a:rPr lang="en-US" dirty="0"/>
              <a:t>Examples</a:t>
            </a:r>
          </a:p>
          <a:p>
            <a:r>
              <a:rPr lang="en-US" dirty="0"/>
              <a:t>&lt;!DOCTYPE html&gt;</a:t>
            </a:r>
          </a:p>
          <a:p>
            <a:r>
              <a:rPr lang="en-US" dirty="0"/>
              <a:t>&lt;!</a:t>
            </a:r>
            <a:r>
              <a:rPr lang="en-US" dirty="0" err="1"/>
              <a:t>DocType</a:t>
            </a:r>
            <a:r>
              <a:rPr lang="en-US" dirty="0"/>
              <a:t> html&gt;</a:t>
            </a:r>
          </a:p>
          <a:p>
            <a:r>
              <a:rPr lang="en-US" dirty="0"/>
              <a:t>&lt;!</a:t>
            </a:r>
            <a:r>
              <a:rPr lang="en-US" dirty="0" err="1"/>
              <a:t>Doctype</a:t>
            </a:r>
            <a:r>
              <a:rPr lang="en-US" dirty="0"/>
              <a:t> html&gt;</a:t>
            </a:r>
          </a:p>
          <a:p>
            <a:r>
              <a:rPr lang="en-US" dirty="0"/>
              <a:t>&lt;!</a:t>
            </a:r>
            <a:r>
              <a:rPr lang="en-US" dirty="0" err="1"/>
              <a:t>doctype</a:t>
            </a:r>
            <a:r>
              <a:rPr lang="en-US" dirty="0"/>
              <a:t> html&gt;</a:t>
            </a:r>
          </a:p>
        </p:txBody>
      </p:sp>
    </p:spTree>
    <p:extLst>
      <p:ext uri="{BB962C8B-B14F-4D97-AF65-F5344CB8AC3E}">
        <p14:creationId xmlns:p14="http://schemas.microsoft.com/office/powerpoint/2010/main" val="933231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Need of the Html</a:t>
            </a:r>
            <a:endParaRPr lang="en-US" dirty="0"/>
          </a:p>
        </p:txBody>
      </p:sp>
      <p:sp>
        <p:nvSpPr>
          <p:cNvPr id="3" name="Content Placeholder 2"/>
          <p:cNvSpPr>
            <a:spLocks noGrp="1"/>
          </p:cNvSpPr>
          <p:nvPr>
            <p:ph idx="1"/>
          </p:nvPr>
        </p:nvSpPr>
        <p:spPr/>
        <p:txBody>
          <a:bodyPr/>
          <a:lstStyle/>
          <a:p>
            <a:r>
              <a:rPr lang="en-US" dirty="0"/>
              <a:t>HTML is a </a:t>
            </a:r>
            <a:r>
              <a:rPr lang="en-US" i="1" dirty="0"/>
              <a:t>markup language</a:t>
            </a:r>
            <a:r>
              <a:rPr lang="en-US" dirty="0"/>
              <a:t> that defines the structure of your content. HTML consists of a series of </a:t>
            </a:r>
            <a:r>
              <a:rPr lang="en-US" b="1" u="sng" dirty="0">
                <a:hlinkClick r:id="rId2"/>
              </a:rPr>
              <a:t>elements</a:t>
            </a:r>
            <a:r>
              <a:rPr lang="en-US" dirty="0"/>
              <a:t>, which you use to enclose, or wrap, different parts of the content to make it appear a certain way, or act a certain way. The enclosing </a:t>
            </a:r>
            <a:r>
              <a:rPr lang="en-US" u="sng" dirty="0">
                <a:hlinkClick r:id="rId3"/>
              </a:rPr>
              <a:t>tags</a:t>
            </a:r>
            <a:r>
              <a:rPr lang="en-US" dirty="0"/>
              <a:t> can make a word or image hyperlink to somewhere else, can italicize words, can make the font bigger or smaller, and so on. For example, take the following line of content:</a:t>
            </a:r>
          </a:p>
        </p:txBody>
      </p:sp>
    </p:spTree>
    <p:extLst>
      <p:ext uri="{BB962C8B-B14F-4D97-AF65-F5344CB8AC3E}">
        <p14:creationId xmlns:p14="http://schemas.microsoft.com/office/powerpoint/2010/main" val="1841106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2" tooltip="Permalink to Anatomy of an HTML element"/>
              </a:rPr>
              <a:t>Anatomy of an HTML element</a:t>
            </a:r>
            <a:r>
              <a:rPr lang="en-US" b="1" dirty="0"/>
              <a:t/>
            </a:r>
            <a:br>
              <a:rPr lang="en-US" b="1" dirty="0"/>
            </a:br>
            <a:endParaRPr lang="en-US" dirty="0"/>
          </a:p>
        </p:txBody>
      </p:sp>
      <p:sp>
        <p:nvSpPr>
          <p:cNvPr id="3" name="Content Placeholder 2"/>
          <p:cNvSpPr>
            <a:spLocks noGrp="1"/>
          </p:cNvSpPr>
          <p:nvPr>
            <p:ph idx="1"/>
          </p:nvPr>
        </p:nvSpPr>
        <p:spPr/>
        <p:txBody>
          <a:bodyPr>
            <a:normAutofit fontScale="85000" lnSpcReduction="10000"/>
          </a:bodyPr>
          <a:lstStyle/>
          <a:p>
            <a:r>
              <a:rPr lang="en-US" dirty="0"/>
              <a:t>The main parts of our element are as follows:</a:t>
            </a:r>
          </a:p>
          <a:p>
            <a:r>
              <a:rPr lang="en-US" b="1" dirty="0"/>
              <a:t>The opening tag:</a:t>
            </a:r>
            <a:r>
              <a:rPr lang="en-US" dirty="0"/>
              <a:t> This consists of the name of the element (in this case, p), wrapped in opening and closing </a:t>
            </a:r>
            <a:r>
              <a:rPr lang="en-US" b="1" dirty="0"/>
              <a:t>angle brackets</a:t>
            </a:r>
            <a:r>
              <a:rPr lang="en-US" dirty="0"/>
              <a:t>. This states where the element begins or starts to take effect — in this case where the paragraph begins.</a:t>
            </a:r>
          </a:p>
          <a:p>
            <a:r>
              <a:rPr lang="en-US" b="1" dirty="0"/>
              <a:t>The closing tag:</a:t>
            </a:r>
            <a:r>
              <a:rPr lang="en-US" dirty="0"/>
              <a:t> This is the same as the opening tag, except that it includes a </a:t>
            </a:r>
            <a:r>
              <a:rPr lang="en-US" i="1" dirty="0"/>
              <a:t>forward slash</a:t>
            </a:r>
            <a:r>
              <a:rPr lang="en-US" dirty="0"/>
              <a:t> before the element name. This states where the element ends — in this case where the paragraph ends. Failing to add a closing tag is one of the standard beginner errors and can lead to strange results.</a:t>
            </a:r>
          </a:p>
          <a:p>
            <a:r>
              <a:rPr lang="en-US" b="1" dirty="0"/>
              <a:t>The content:</a:t>
            </a:r>
            <a:r>
              <a:rPr lang="en-US" dirty="0"/>
              <a:t> This is the content of the element, which in this case, is just text.</a:t>
            </a:r>
          </a:p>
          <a:p>
            <a:r>
              <a:rPr lang="en-US" b="1" dirty="0"/>
              <a:t>The element:</a:t>
            </a:r>
            <a:r>
              <a:rPr lang="en-US" dirty="0"/>
              <a:t> The opening tag, the closing tag, and the content together comprise the element.</a:t>
            </a:r>
          </a:p>
          <a:p>
            <a:endParaRPr lang="en-US" dirty="0"/>
          </a:p>
        </p:txBody>
      </p:sp>
    </p:spTree>
    <p:extLst>
      <p:ext uri="{BB962C8B-B14F-4D97-AF65-F5344CB8AC3E}">
        <p14:creationId xmlns:p14="http://schemas.microsoft.com/office/powerpoint/2010/main" val="2239014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781901" y="3178628"/>
            <a:ext cx="9410700" cy="2487929"/>
          </a:xfrm>
          <a:prstGeom prst="rect">
            <a:avLst/>
          </a:prstGeom>
        </p:spPr>
      </p:pic>
    </p:spTree>
    <p:extLst>
      <p:ext uri="{BB962C8B-B14F-4D97-AF65-F5344CB8AC3E}">
        <p14:creationId xmlns:p14="http://schemas.microsoft.com/office/powerpoint/2010/main" val="1928297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Elements can also have attributes that look like the following:</a:t>
            </a:r>
          </a:p>
        </p:txBody>
      </p:sp>
      <p:pic>
        <p:nvPicPr>
          <p:cNvPr id="4" name="Picture 3"/>
          <p:cNvPicPr>
            <a:picLocks noChangeAspect="1"/>
          </p:cNvPicPr>
          <p:nvPr/>
        </p:nvPicPr>
        <p:blipFill>
          <a:blip r:embed="rId2"/>
          <a:stretch>
            <a:fillRect/>
          </a:stretch>
        </p:blipFill>
        <p:spPr>
          <a:xfrm>
            <a:off x="883482" y="3350718"/>
            <a:ext cx="9410700" cy="1571625"/>
          </a:xfrm>
          <a:prstGeom prst="rect">
            <a:avLst/>
          </a:prstGeom>
        </p:spPr>
      </p:pic>
    </p:spTree>
    <p:extLst>
      <p:ext uri="{BB962C8B-B14F-4D97-AF65-F5344CB8AC3E}">
        <p14:creationId xmlns:p14="http://schemas.microsoft.com/office/powerpoint/2010/main" val="2723595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Attributes contain extra information about the element that you don't want to appear in the actual content. Here, class is the attribute name and editor-note is the attribute value. The class attribute allows you to give the element a non-unique identifier that can be used to target it (and any other elements with the same class value) with style information and other things.</a:t>
            </a:r>
          </a:p>
        </p:txBody>
      </p:sp>
    </p:spTree>
    <p:extLst>
      <p:ext uri="{BB962C8B-B14F-4D97-AF65-F5344CB8AC3E}">
        <p14:creationId xmlns:p14="http://schemas.microsoft.com/office/powerpoint/2010/main" val="1471473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An attribute should always have the following:</a:t>
            </a:r>
          </a:p>
          <a:p>
            <a:r>
              <a:rPr lang="en-US" dirty="0"/>
              <a:t>A space between it and the element name (or the previous attribute, if the element already has one or more attributes).</a:t>
            </a:r>
          </a:p>
          <a:p>
            <a:r>
              <a:rPr lang="en-US" dirty="0"/>
              <a:t>The attribute name followed by an equal sign.</a:t>
            </a:r>
          </a:p>
          <a:p>
            <a:r>
              <a:rPr lang="en-US" dirty="0"/>
              <a:t>The attribute value wrapped by opening and closing quotation marks.</a:t>
            </a:r>
          </a:p>
          <a:p>
            <a:endParaRPr lang="en-US" dirty="0"/>
          </a:p>
        </p:txBody>
      </p:sp>
    </p:spTree>
    <p:extLst>
      <p:ext uri="{BB962C8B-B14F-4D97-AF65-F5344CB8AC3E}">
        <p14:creationId xmlns:p14="http://schemas.microsoft.com/office/powerpoint/2010/main" val="1015243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Elements</a:t>
            </a:r>
            <a:br>
              <a:rPr lang="en-US" dirty="0"/>
            </a:br>
            <a:endParaRPr lang="en-US" dirty="0"/>
          </a:p>
        </p:txBody>
      </p:sp>
      <p:sp>
        <p:nvSpPr>
          <p:cNvPr id="3" name="Content Placeholder 2"/>
          <p:cNvSpPr>
            <a:spLocks noGrp="1"/>
          </p:cNvSpPr>
          <p:nvPr>
            <p:ph idx="1"/>
          </p:nvPr>
        </p:nvSpPr>
        <p:spPr/>
        <p:txBody>
          <a:bodyPr/>
          <a:lstStyle/>
          <a:p>
            <a:r>
              <a:rPr lang="en-US" dirty="0"/>
              <a:t>If you know a little about HTML, you will know that HTML tags are (mostly) used to format content - these tags tell the browser how to display the content on the page. They give no indication as to what type of content they contain or what role that content plays in the page.</a:t>
            </a:r>
          </a:p>
          <a:p>
            <a:r>
              <a:rPr lang="en-US" dirty="0"/>
              <a:t>Semantic HTML5 addresses this shortcoming by defining specific tags to indicate clearly what role is played by the content those tags contain. That explicit information helps robots/crawlers like Google and Bing to better understand which content is important, which is a subsidiary, which is for navigation, and so on.</a:t>
            </a:r>
          </a:p>
          <a:p>
            <a:endParaRPr lang="en-US" dirty="0"/>
          </a:p>
        </p:txBody>
      </p:sp>
    </p:spTree>
    <p:extLst>
      <p:ext uri="{BB962C8B-B14F-4D97-AF65-F5344CB8AC3E}">
        <p14:creationId xmlns:p14="http://schemas.microsoft.com/office/powerpoint/2010/main" val="3602387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784824" y="753228"/>
            <a:ext cx="8305800" cy="5557974"/>
          </a:xfrm>
          <a:prstGeom prst="rect">
            <a:avLst/>
          </a:prstGeom>
        </p:spPr>
      </p:pic>
    </p:spTree>
    <p:extLst>
      <p:ext uri="{BB962C8B-B14F-4D97-AF65-F5344CB8AC3E}">
        <p14:creationId xmlns:p14="http://schemas.microsoft.com/office/powerpoint/2010/main" val="35150632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Semantic elements are one of the most significant introductions in HTML5. In the previous versions of HTML, the generic </a:t>
            </a:r>
            <a:r>
              <a:rPr lang="en-US" u="sng" dirty="0">
                <a:hlinkClick r:id="rId2"/>
              </a:rPr>
              <a:t>&lt;div&gt;</a:t>
            </a:r>
            <a:r>
              <a:rPr lang="en-US" dirty="0"/>
              <a:t> tag with an id or class attribute was used for structuring a web page. For example, for defining sidebars, footers, menu or other structural blocks, the &lt;div&gt; tag was used with the corresponding meaning (div class="footer").</a:t>
            </a:r>
          </a:p>
          <a:p>
            <a:r>
              <a:rPr lang="en-US" dirty="0"/>
              <a:t>Semantic elements in HTML have intrinsic meaning and convey that meaning both to the browser and the developer. They clearly define what kind of content they contain (for example, the </a:t>
            </a:r>
            <a:r>
              <a:rPr lang="en-US" u="sng" dirty="0">
                <a:hlinkClick r:id="rId3"/>
              </a:rPr>
              <a:t>&lt;footer&gt;</a:t>
            </a:r>
            <a:r>
              <a:rPr lang="en-US" dirty="0"/>
              <a:t> tag is used instead of &lt;div id="footer"&gt;).</a:t>
            </a:r>
          </a:p>
          <a:p>
            <a:endParaRPr lang="en-US" dirty="0"/>
          </a:p>
        </p:txBody>
      </p:sp>
    </p:spTree>
    <p:extLst>
      <p:ext uri="{BB962C8B-B14F-4D97-AF65-F5344CB8AC3E}">
        <p14:creationId xmlns:p14="http://schemas.microsoft.com/office/powerpoint/2010/main" val="2239790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&lt;header&gt; element</a:t>
            </a:r>
          </a:p>
          <a:p>
            <a:r>
              <a:rPr lang="en-US" dirty="0"/>
              <a:t>The </a:t>
            </a:r>
            <a:r>
              <a:rPr lang="en-US" u="sng" dirty="0">
                <a:hlinkClick r:id="rId2"/>
              </a:rPr>
              <a:t>&lt;header&gt;</a:t>
            </a:r>
            <a:r>
              <a:rPr lang="en-US" dirty="0"/>
              <a:t> element defines a header for the document or section. It usually contains a logo, search bar, navigation links, etc.</a:t>
            </a:r>
          </a:p>
          <a:p>
            <a:endParaRPr lang="en-US" dirty="0"/>
          </a:p>
        </p:txBody>
      </p:sp>
    </p:spTree>
    <p:extLst>
      <p:ext uri="{BB962C8B-B14F-4D97-AF65-F5344CB8AC3E}">
        <p14:creationId xmlns:p14="http://schemas.microsoft.com/office/powerpoint/2010/main" val="4194755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32500" lnSpcReduction="20000"/>
          </a:bodyPr>
          <a:lstStyle/>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&lt;header&gt;    </a:t>
            </a:r>
          </a:p>
          <a:p>
            <a:r>
              <a:rPr lang="en-US" dirty="0"/>
              <a:t>      &lt;h1&gt;Welcome to our page&lt;/h1&gt;</a:t>
            </a:r>
          </a:p>
          <a:p>
            <a:r>
              <a:rPr lang="en-US" dirty="0"/>
              <a:t>      &lt;</a:t>
            </a:r>
            <a:r>
              <a:rPr lang="en-US" dirty="0" err="1"/>
              <a:t>hr</a:t>
            </a:r>
            <a:r>
              <a:rPr lang="en-US" dirty="0"/>
              <a:t>&gt;</a:t>
            </a:r>
          </a:p>
          <a:p>
            <a:r>
              <a:rPr lang="en-US" dirty="0"/>
              <a:t>    &lt;/header&gt;</a:t>
            </a:r>
          </a:p>
          <a:p>
            <a:r>
              <a:rPr lang="en-US" dirty="0"/>
              <a:t>    &lt;article&gt;</a:t>
            </a:r>
          </a:p>
          <a:p>
            <a:r>
              <a:rPr lang="en-US" dirty="0"/>
              <a:t>      &lt;header&gt;</a:t>
            </a:r>
          </a:p>
          <a:p>
            <a:r>
              <a:rPr lang="en-US" dirty="0"/>
              <a:t>        &lt;h2&gt;Title of the document&lt;/h2&gt;</a:t>
            </a:r>
          </a:p>
          <a:p>
            <a:r>
              <a:rPr lang="en-US" dirty="0"/>
              <a:t>        &lt;p&gt;The content of the paragraph.&lt;/p&gt;</a:t>
            </a:r>
          </a:p>
          <a:p>
            <a:r>
              <a:rPr lang="en-US" dirty="0"/>
              <a:t>      &lt;/header&gt;</a:t>
            </a:r>
          </a:p>
          <a:p>
            <a:r>
              <a:rPr lang="en-US" dirty="0"/>
              <a:t>    &lt;/article&gt;</a:t>
            </a:r>
          </a:p>
          <a:p>
            <a:r>
              <a:rPr lang="en-US" dirty="0"/>
              <a:t>  &lt;/body&gt;</a:t>
            </a:r>
          </a:p>
          <a:p>
            <a:r>
              <a:rPr lang="en-US" dirty="0"/>
              <a:t>&lt;/html&gt;</a:t>
            </a:r>
          </a:p>
          <a:p>
            <a:endParaRPr lang="en-US" dirty="0"/>
          </a:p>
        </p:txBody>
      </p:sp>
    </p:spTree>
    <p:extLst>
      <p:ext uri="{BB962C8B-B14F-4D97-AF65-F5344CB8AC3E}">
        <p14:creationId xmlns:p14="http://schemas.microsoft.com/office/powerpoint/2010/main" val="1443788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a:t>
            </a:r>
            <a:r>
              <a:rPr lang="en-US" b="1" dirty="0" err="1"/>
              <a:t>nav</a:t>
            </a:r>
            <a:r>
              <a:rPr lang="en-US" b="1" dirty="0"/>
              <a:t>&gt; element</a:t>
            </a:r>
          </a:p>
          <a:p>
            <a:r>
              <a:rPr lang="en-US" dirty="0"/>
              <a:t>The </a:t>
            </a:r>
            <a:r>
              <a:rPr lang="en-US" u="sng" dirty="0">
                <a:hlinkClick r:id="rId2"/>
              </a:rPr>
              <a:t>&lt;</a:t>
            </a:r>
            <a:r>
              <a:rPr lang="en-US" u="sng" dirty="0" err="1">
                <a:hlinkClick r:id="rId2"/>
              </a:rPr>
              <a:t>nav</a:t>
            </a:r>
            <a:r>
              <a:rPr lang="en-US" u="sng" dirty="0">
                <a:hlinkClick r:id="rId2"/>
              </a:rPr>
              <a:t>&gt;</a:t>
            </a:r>
            <a:r>
              <a:rPr lang="en-US" dirty="0"/>
              <a:t> element defines a block of navigation links, either within the current document or to other documents. Note, that not all links in the HTML document can be placed inside the &lt;</a:t>
            </a:r>
            <a:r>
              <a:rPr lang="en-US" dirty="0" err="1"/>
              <a:t>nav</a:t>
            </a:r>
            <a:r>
              <a:rPr lang="en-US" dirty="0"/>
              <a:t>&gt; element; it can only include major navigation blocks. For example, the &lt;</a:t>
            </a:r>
            <a:r>
              <a:rPr lang="en-US" dirty="0" err="1"/>
              <a:t>nav</a:t>
            </a:r>
            <a:r>
              <a:rPr lang="en-US" dirty="0"/>
              <a:t>&gt; tag cannot be placed in the &lt;footer&gt; tag for defining links in the footer of the website.</a:t>
            </a:r>
          </a:p>
          <a:p>
            <a:endParaRPr lang="en-US" dirty="0"/>
          </a:p>
        </p:txBody>
      </p:sp>
    </p:spTree>
    <p:extLst>
      <p:ext uri="{BB962C8B-B14F-4D97-AF65-F5344CB8AC3E}">
        <p14:creationId xmlns:p14="http://schemas.microsoft.com/office/powerpoint/2010/main" val="8852998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00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&lt;header&gt;</a:t>
            </a:r>
          </a:p>
          <a:p>
            <a:r>
              <a:rPr lang="en-US" dirty="0"/>
              <a:t>      &lt;h1&gt;Programming Courses&lt;/h1&gt;</a:t>
            </a:r>
          </a:p>
          <a:p>
            <a:r>
              <a:rPr lang="en-US" dirty="0"/>
              <a:t>    &lt;/header&gt;</a:t>
            </a:r>
          </a:p>
          <a:p>
            <a:r>
              <a:rPr lang="en-US" dirty="0"/>
              <a:t>    &lt;</a:t>
            </a:r>
            <a:r>
              <a:rPr lang="en-US" dirty="0" err="1"/>
              <a:t>nav</a:t>
            </a:r>
            <a:r>
              <a:rPr lang="en-US" dirty="0"/>
              <a:t>&gt;</a:t>
            </a:r>
          </a:p>
          <a:p>
            <a:r>
              <a:rPr lang="en-US" dirty="0"/>
              <a:t>      &lt;a </a:t>
            </a:r>
            <a:r>
              <a:rPr lang="en-US" dirty="0" err="1"/>
              <a:t>href</a:t>
            </a:r>
            <a:r>
              <a:rPr lang="en-US" dirty="0"/>
              <a:t>="/learn-html.html"&gt;HTML&lt;/a&gt; | &lt;a </a:t>
            </a:r>
            <a:r>
              <a:rPr lang="en-US" dirty="0" err="1"/>
              <a:t>href</a:t>
            </a:r>
            <a:r>
              <a:rPr lang="en-US" dirty="0"/>
              <a:t>="/learn-css.html"&gt;CSS&lt;/a&gt; | &lt;a </a:t>
            </a:r>
            <a:r>
              <a:rPr lang="en-US" dirty="0" err="1"/>
              <a:t>href</a:t>
            </a:r>
            <a:r>
              <a:rPr lang="en-US" dirty="0"/>
              <a:t>="/learn-javascript.html"&gt;JavaScript&lt;/a&gt; | &lt;a </a:t>
            </a:r>
            <a:r>
              <a:rPr lang="en-US" dirty="0" err="1"/>
              <a:t>href</a:t>
            </a:r>
            <a:r>
              <a:rPr lang="en-US" dirty="0"/>
              <a:t>="/learn-php.html"&gt;PHP&lt;/a&gt; |</a:t>
            </a:r>
          </a:p>
          <a:p>
            <a:r>
              <a:rPr lang="en-US" dirty="0"/>
              <a:t>    &lt;/</a:t>
            </a:r>
            <a:r>
              <a:rPr lang="en-US" dirty="0" err="1"/>
              <a:t>nav</a:t>
            </a:r>
            <a:r>
              <a:rPr lang="en-US" dirty="0"/>
              <a:t>&gt;</a:t>
            </a:r>
          </a:p>
          <a:p>
            <a:r>
              <a:rPr lang="en-US" dirty="0"/>
              <a:t>    &lt;h2&gt;Welcome to W3Docs!&lt;/h2&gt;</a:t>
            </a:r>
          </a:p>
          <a:p>
            <a:r>
              <a:rPr lang="en-US" dirty="0"/>
              <a:t>  &lt;/body&gt;</a:t>
            </a:r>
          </a:p>
          <a:p>
            <a:r>
              <a:rPr lang="en-US" dirty="0"/>
              <a:t>&lt;/html&gt;</a:t>
            </a:r>
          </a:p>
        </p:txBody>
      </p:sp>
    </p:spTree>
    <p:extLst>
      <p:ext uri="{BB962C8B-B14F-4D97-AF65-F5344CB8AC3E}">
        <p14:creationId xmlns:p14="http://schemas.microsoft.com/office/powerpoint/2010/main" val="550752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&lt;article&gt; element</a:t>
            </a:r>
          </a:p>
          <a:p>
            <a:r>
              <a:rPr lang="en-US" dirty="0"/>
              <a:t>The </a:t>
            </a:r>
            <a:r>
              <a:rPr lang="en-US" u="sng" dirty="0">
                <a:hlinkClick r:id="rId2"/>
              </a:rPr>
              <a:t>&lt;article&gt;</a:t>
            </a:r>
            <a:r>
              <a:rPr lang="en-US" dirty="0"/>
              <a:t> element is used to specify an independent, self-contained content (articles, blog posts, comments, etc.). The content of the element has its meaning, and it is easily differentiated from the rest of the webpage content.</a:t>
            </a:r>
          </a:p>
          <a:p>
            <a:endParaRPr lang="en-US" dirty="0"/>
          </a:p>
        </p:txBody>
      </p:sp>
    </p:spTree>
    <p:extLst>
      <p:ext uri="{BB962C8B-B14F-4D97-AF65-F5344CB8AC3E}">
        <p14:creationId xmlns:p14="http://schemas.microsoft.com/office/powerpoint/2010/main" val="300209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&lt;article&gt;</a:t>
            </a:r>
          </a:p>
          <a:p>
            <a:r>
              <a:rPr lang="en-US" dirty="0"/>
              <a:t>      &lt;h1&gt;Title of the article&lt;/h1&gt;</a:t>
            </a:r>
          </a:p>
          <a:p>
            <a:r>
              <a:rPr lang="en-US" dirty="0"/>
              <a:t>      &lt;p&gt;Text of the article&lt;/p&gt;</a:t>
            </a:r>
          </a:p>
          <a:p>
            <a:r>
              <a:rPr lang="en-US" dirty="0"/>
              <a:t>    &lt;/article&gt;</a:t>
            </a:r>
          </a:p>
          <a:p>
            <a:r>
              <a:rPr lang="en-US" dirty="0"/>
              <a:t>  &lt;/body&gt;</a:t>
            </a:r>
          </a:p>
          <a:p>
            <a:r>
              <a:rPr lang="en-US" dirty="0"/>
              <a:t>&lt;/html&gt;</a:t>
            </a:r>
          </a:p>
        </p:txBody>
      </p:sp>
    </p:spTree>
    <p:extLst>
      <p:ext uri="{BB962C8B-B14F-4D97-AF65-F5344CB8AC3E}">
        <p14:creationId xmlns:p14="http://schemas.microsoft.com/office/powerpoint/2010/main" val="1239492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&lt;section&gt; element</a:t>
            </a:r>
          </a:p>
          <a:p>
            <a:r>
              <a:rPr lang="en-US" dirty="0"/>
              <a:t>The </a:t>
            </a:r>
            <a:r>
              <a:rPr lang="en-US" u="sng" dirty="0">
                <a:hlinkClick r:id="rId2"/>
              </a:rPr>
              <a:t>&lt;section&gt;</a:t>
            </a:r>
            <a:r>
              <a:rPr lang="en-US" dirty="0"/>
              <a:t> element is used to group standalone sections within a webpage containing logically connected content (news block, contact information etc.).</a:t>
            </a:r>
          </a:p>
          <a:p>
            <a:endParaRPr lang="en-US" dirty="0"/>
          </a:p>
        </p:txBody>
      </p:sp>
    </p:spTree>
    <p:extLst>
      <p:ext uri="{BB962C8B-B14F-4D97-AF65-F5344CB8AC3E}">
        <p14:creationId xmlns:p14="http://schemas.microsoft.com/office/powerpoint/2010/main" val="1146208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32500" lnSpcReduction="20000"/>
          </a:bodyPr>
          <a:lstStyle/>
          <a:p>
            <a:r>
              <a:rPr lang="en-US" dirty="0"/>
              <a:t>&lt;!DOCTYPE html&gt;</a:t>
            </a:r>
          </a:p>
          <a:p>
            <a:r>
              <a:rPr lang="en-US" dirty="0"/>
              <a:t>&lt;html&gt;</a:t>
            </a:r>
          </a:p>
          <a:p>
            <a:r>
              <a:rPr lang="en-US" dirty="0"/>
              <a:t>  &lt;head&gt;</a:t>
            </a:r>
          </a:p>
          <a:p>
            <a:r>
              <a:rPr lang="en-US" dirty="0"/>
              <a:t>    &lt;title&gt;Using the section tag&lt;/title&gt;</a:t>
            </a:r>
          </a:p>
          <a:p>
            <a:r>
              <a:rPr lang="en-US" dirty="0"/>
              <a:t>  &lt;/head&gt;</a:t>
            </a:r>
          </a:p>
          <a:p>
            <a:r>
              <a:rPr lang="en-US" dirty="0"/>
              <a:t>  &lt;body&gt;</a:t>
            </a:r>
          </a:p>
          <a:p>
            <a:r>
              <a:rPr lang="en-US" dirty="0"/>
              <a:t>    &lt;section&gt;</a:t>
            </a:r>
          </a:p>
          <a:p>
            <a:r>
              <a:rPr lang="en-US" dirty="0"/>
              <a:t>      &lt;h1&gt;Hypertext markup language HTML&lt;/h1&gt;</a:t>
            </a:r>
          </a:p>
          <a:p>
            <a:r>
              <a:rPr lang="en-US" dirty="0"/>
              <a:t>      &lt;p&gt;HTML is the standard markup language for creating web pages and web applications. Browsers receive HTML documents from a web server or from local storage and render the documents into multimedia web pages. HTML describes the structure of a web page semantically and originally included cues for the appearance of the document.&lt;/p&gt;</a:t>
            </a:r>
          </a:p>
          <a:p>
            <a:r>
              <a:rPr lang="en-US" dirty="0"/>
              <a:t>    &lt;/section&gt;</a:t>
            </a:r>
          </a:p>
          <a:p>
            <a:r>
              <a:rPr lang="en-US" dirty="0"/>
              <a:t>    &lt;section&gt;</a:t>
            </a:r>
          </a:p>
          <a:p>
            <a:r>
              <a:rPr lang="en-US" dirty="0"/>
              <a:t>      &lt;h1&gt;CSS&lt;/h1&gt;</a:t>
            </a:r>
          </a:p>
          <a:p>
            <a:r>
              <a:rPr lang="en-US" dirty="0"/>
              <a:t>      &lt;p&gt;A formal language that is used as a description zone, formatting the appearance of a web page written with the help of markup languages HTML and XHTML but it can be applied to any XML-document, for example, to SVG or XUL.&lt;/p&gt;</a:t>
            </a:r>
          </a:p>
          <a:p>
            <a:r>
              <a:rPr lang="en-US" dirty="0"/>
              <a:t>    &lt;/section&gt;</a:t>
            </a:r>
          </a:p>
          <a:p>
            <a:r>
              <a:rPr lang="en-US" dirty="0"/>
              <a:t>  &lt;/body&gt;</a:t>
            </a:r>
          </a:p>
          <a:p>
            <a:r>
              <a:rPr lang="en-US" dirty="0"/>
              <a:t>&lt;/html&gt;</a:t>
            </a:r>
          </a:p>
        </p:txBody>
      </p:sp>
    </p:spTree>
    <p:extLst>
      <p:ext uri="{BB962C8B-B14F-4D97-AF65-F5344CB8AC3E}">
        <p14:creationId xmlns:p14="http://schemas.microsoft.com/office/powerpoint/2010/main" val="1303537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&lt;aside&gt; element</a:t>
            </a:r>
          </a:p>
          <a:p>
            <a:r>
              <a:rPr lang="en-US" dirty="0"/>
              <a:t>The </a:t>
            </a:r>
            <a:r>
              <a:rPr lang="en-US" u="sng" dirty="0">
                <a:hlinkClick r:id="rId2"/>
              </a:rPr>
              <a:t>&lt;aside&gt;</a:t>
            </a:r>
            <a:r>
              <a:rPr lang="en-US" dirty="0"/>
              <a:t> element defines a section with additional information related to the content around the &lt;aside&gt; element. It is generally used to enhance an article with additional information, or highlight the parts that can be interesting to the user.</a:t>
            </a:r>
          </a:p>
          <a:p>
            <a:endParaRPr lang="en-US" dirty="0"/>
          </a:p>
        </p:txBody>
      </p:sp>
    </p:spTree>
    <p:extLst>
      <p:ext uri="{BB962C8B-B14F-4D97-AF65-F5344CB8AC3E}">
        <p14:creationId xmlns:p14="http://schemas.microsoft.com/office/powerpoint/2010/main" val="46511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&lt;p&gt;I like watching Game of Thrones.&lt;/p&gt;</a:t>
            </a:r>
          </a:p>
          <a:p>
            <a:r>
              <a:rPr lang="en-US" dirty="0"/>
              <a:t>    &lt;aside&gt;</a:t>
            </a:r>
          </a:p>
          <a:p>
            <a:r>
              <a:rPr lang="en-US" dirty="0"/>
              <a:t>      &lt;h4&gt;Game of Thrones&lt;/h4&gt;</a:t>
            </a:r>
          </a:p>
          <a:p>
            <a:r>
              <a:rPr lang="en-US" dirty="0"/>
              <a:t>      &lt;p&gt;Game of Thrones is an American fantasy drama television series created by David Benioff and D. B. Weiss. It is an adaptation of A Song of Ice and Fire, George R. R. Martin's series of fantasy novels&lt;/p&gt;</a:t>
            </a:r>
          </a:p>
          <a:p>
            <a:r>
              <a:rPr lang="en-US" dirty="0"/>
              <a:t>    &lt;/aside&gt;</a:t>
            </a:r>
          </a:p>
          <a:p>
            <a:r>
              <a:rPr lang="en-US" dirty="0"/>
              <a:t>  &lt;/body&gt;</a:t>
            </a:r>
          </a:p>
          <a:p>
            <a:r>
              <a:rPr lang="en-US" dirty="0"/>
              <a:t>&lt;/html&gt;</a:t>
            </a:r>
          </a:p>
          <a:p>
            <a:endParaRPr lang="en-US" dirty="0"/>
          </a:p>
        </p:txBody>
      </p:sp>
    </p:spTree>
    <p:extLst>
      <p:ext uri="{BB962C8B-B14F-4D97-AF65-F5344CB8AC3E}">
        <p14:creationId xmlns:p14="http://schemas.microsoft.com/office/powerpoint/2010/main" val="38817549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&lt;footer&gt; element</a:t>
            </a:r>
          </a:p>
          <a:p>
            <a:r>
              <a:rPr lang="en-US" dirty="0"/>
              <a:t>The </a:t>
            </a:r>
            <a:r>
              <a:rPr lang="en-US" u="sng" dirty="0">
                <a:hlinkClick r:id="rId2"/>
              </a:rPr>
              <a:t>&lt;footer&gt;</a:t>
            </a:r>
            <a:r>
              <a:rPr lang="en-US" dirty="0"/>
              <a:t> element defines the footer of a web page or a section. As a rule, it contains copyright information, contact details, navigation links, etc.</a:t>
            </a:r>
          </a:p>
          <a:p>
            <a:endParaRPr lang="en-US" dirty="0"/>
          </a:p>
        </p:txBody>
      </p:sp>
    </p:spTree>
    <p:extLst>
      <p:ext uri="{BB962C8B-B14F-4D97-AF65-F5344CB8AC3E}">
        <p14:creationId xmlns:p14="http://schemas.microsoft.com/office/powerpoint/2010/main" val="1298971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250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&lt;style&gt;</a:t>
            </a:r>
          </a:p>
          <a:p>
            <a:r>
              <a:rPr lang="en-US" dirty="0"/>
              <a:t>      .header {</a:t>
            </a:r>
          </a:p>
          <a:p>
            <a:r>
              <a:rPr lang="en-US" dirty="0"/>
              <a:t>        height: 40px;</a:t>
            </a:r>
          </a:p>
          <a:p>
            <a:r>
              <a:rPr lang="en-US" dirty="0"/>
              <a:t>        padding: 20px </a:t>
            </a:r>
            <a:r>
              <a:rPr lang="en-US" dirty="0" err="1"/>
              <a:t>20px</a:t>
            </a:r>
            <a:r>
              <a:rPr lang="en-US" dirty="0"/>
              <a:t> 0;</a:t>
            </a:r>
          </a:p>
          <a:p>
            <a:r>
              <a:rPr lang="en-US" dirty="0"/>
              <a:t>        background: #e1e1e1;</a:t>
            </a:r>
          </a:p>
          <a:p>
            <a:r>
              <a:rPr lang="en-US" dirty="0"/>
              <a:t>      }</a:t>
            </a:r>
          </a:p>
          <a:p>
            <a:r>
              <a:rPr lang="en-US" dirty="0"/>
              <a:t>      .main-content {</a:t>
            </a:r>
          </a:p>
          <a:p>
            <a:r>
              <a:rPr lang="en-US" dirty="0"/>
              <a:t>        height: 60vh;</a:t>
            </a:r>
          </a:p>
          <a:p>
            <a:r>
              <a:rPr lang="en-US" dirty="0"/>
              <a:t>        padding: 20px;</a:t>
            </a:r>
          </a:p>
          <a:p>
            <a:r>
              <a:rPr lang="en-US" dirty="0"/>
              <a:t>      }</a:t>
            </a:r>
          </a:p>
          <a:p>
            <a:r>
              <a:rPr lang="en-US" dirty="0"/>
              <a:t>      footer {</a:t>
            </a:r>
          </a:p>
          <a:p>
            <a:r>
              <a:rPr lang="en-US" dirty="0"/>
              <a:t>        padding: 10px 20px;</a:t>
            </a:r>
          </a:p>
          <a:p>
            <a:r>
              <a:rPr lang="en-US" dirty="0"/>
              <a:t>        background: #666;</a:t>
            </a:r>
          </a:p>
          <a:p>
            <a:r>
              <a:rPr lang="en-US" dirty="0"/>
              <a:t>        color: white;</a:t>
            </a:r>
          </a:p>
          <a:p>
            <a:r>
              <a:rPr lang="en-US" dirty="0"/>
              <a:t>      }</a:t>
            </a:r>
          </a:p>
          <a:p>
            <a:r>
              <a:rPr lang="en-US" dirty="0"/>
              <a:t>      a {</a:t>
            </a:r>
          </a:p>
          <a:p>
            <a:r>
              <a:rPr lang="en-US" dirty="0"/>
              <a:t>        color: #00aaff;</a:t>
            </a:r>
          </a:p>
          <a:p>
            <a:r>
              <a:rPr lang="en-US" dirty="0"/>
              <a:t>      }</a:t>
            </a:r>
          </a:p>
          <a:p>
            <a:r>
              <a:rPr lang="en-US" dirty="0"/>
              <a:t>    &lt;/style&gt;</a:t>
            </a:r>
          </a:p>
        </p:txBody>
      </p:sp>
    </p:spTree>
    <p:extLst>
      <p:ext uri="{BB962C8B-B14F-4D97-AF65-F5344CB8AC3E}">
        <p14:creationId xmlns:p14="http://schemas.microsoft.com/office/powerpoint/2010/main" val="21677902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&lt;/head&gt;</a:t>
            </a:r>
          </a:p>
          <a:p>
            <a:r>
              <a:rPr lang="en-US" dirty="0"/>
              <a:t>  &lt;body&gt;</a:t>
            </a:r>
          </a:p>
          <a:p>
            <a:r>
              <a:rPr lang="en-US" dirty="0"/>
              <a:t>    &lt;div class="header"&gt;Header / Menu&lt;/div&gt;</a:t>
            </a:r>
          </a:p>
          <a:p>
            <a:r>
              <a:rPr lang="en-US" dirty="0"/>
              <a:t>    &lt;div class="main-content"&gt;</a:t>
            </a:r>
          </a:p>
          <a:p>
            <a:r>
              <a:rPr lang="en-US" dirty="0"/>
              <a:t>      &lt;h1&gt;Main content&lt;/h1&gt;</a:t>
            </a:r>
          </a:p>
          <a:p>
            <a:r>
              <a:rPr lang="en-US" dirty="0"/>
              <a:t>      &lt;p&gt;This is some paragraph. &lt;/p&gt;</a:t>
            </a:r>
          </a:p>
          <a:p>
            <a:r>
              <a:rPr lang="en-US" dirty="0"/>
              <a:t>    &lt;/div&gt;</a:t>
            </a:r>
          </a:p>
          <a:p>
            <a:r>
              <a:rPr lang="en-US" dirty="0"/>
              <a:t>    &lt;footer&gt;</a:t>
            </a:r>
          </a:p>
          <a:p>
            <a:r>
              <a:rPr lang="en-US" dirty="0"/>
              <a:t>      &lt;p&gt;Company © W3docs. All rights reserved.&lt;/p&gt;</a:t>
            </a:r>
          </a:p>
          <a:p>
            <a:r>
              <a:rPr lang="en-US" dirty="0"/>
              <a:t>    &lt;/footer&gt;</a:t>
            </a:r>
          </a:p>
          <a:p>
            <a:r>
              <a:rPr lang="en-US" dirty="0"/>
              <a:t>  &lt;/body&gt;</a:t>
            </a:r>
          </a:p>
          <a:p>
            <a:r>
              <a:rPr lang="en-US" dirty="0"/>
              <a:t>&lt;/html&gt;</a:t>
            </a:r>
          </a:p>
        </p:txBody>
      </p:sp>
    </p:spTree>
    <p:extLst>
      <p:ext uri="{BB962C8B-B14F-4D97-AF65-F5344CB8AC3E}">
        <p14:creationId xmlns:p14="http://schemas.microsoft.com/office/powerpoint/2010/main" val="1124041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80321" y="753228"/>
            <a:ext cx="9235168" cy="5644515"/>
          </a:xfrm>
          <a:prstGeom prst="rect">
            <a:avLst/>
          </a:prstGeom>
        </p:spPr>
      </p:pic>
    </p:spTree>
    <p:extLst>
      <p:ext uri="{BB962C8B-B14F-4D97-AF65-F5344CB8AC3E}">
        <p14:creationId xmlns:p14="http://schemas.microsoft.com/office/powerpoint/2010/main" val="3398948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&lt;address&gt; element</a:t>
            </a:r>
          </a:p>
          <a:p>
            <a:r>
              <a:rPr lang="en-US" dirty="0"/>
              <a:t>The </a:t>
            </a:r>
            <a:r>
              <a:rPr lang="en-US" u="sng" dirty="0">
                <a:hlinkClick r:id="rId2"/>
              </a:rPr>
              <a:t>&lt;address&gt;</a:t>
            </a:r>
            <a:r>
              <a:rPr lang="en-US" dirty="0"/>
              <a:t> element is used to provide contact information of the author or the owner of an article, document or the website.</a:t>
            </a:r>
          </a:p>
          <a:p>
            <a:endParaRPr lang="en-US" dirty="0"/>
          </a:p>
        </p:txBody>
      </p:sp>
    </p:spTree>
    <p:extLst>
      <p:ext uri="{BB962C8B-B14F-4D97-AF65-F5344CB8AC3E}">
        <p14:creationId xmlns:p14="http://schemas.microsoft.com/office/powerpoint/2010/main" val="32542222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&lt;address&gt;</a:t>
            </a:r>
          </a:p>
          <a:p>
            <a:r>
              <a:rPr lang="en-US" dirty="0"/>
              <a:t>      Author: W3docs Team&lt;</a:t>
            </a:r>
            <a:r>
              <a:rPr lang="en-US" dirty="0" err="1"/>
              <a:t>br</a:t>
            </a:r>
            <a:r>
              <a:rPr lang="en-US" dirty="0"/>
              <a:t> /&gt;</a:t>
            </a:r>
          </a:p>
          <a:p>
            <a:r>
              <a:rPr lang="en-US" dirty="0"/>
              <a:t>      &lt;a </a:t>
            </a:r>
            <a:r>
              <a:rPr lang="en-US" dirty="0" err="1"/>
              <a:t>href</a:t>
            </a:r>
            <a:r>
              <a:rPr lang="en-US" dirty="0"/>
              <a:t>="programming.com"&gt;Send Mail to the Author&lt;/a&gt;</a:t>
            </a:r>
          </a:p>
          <a:p>
            <a:r>
              <a:rPr lang="en-US" dirty="0"/>
              <a:t>    &lt;/address&gt;</a:t>
            </a:r>
          </a:p>
          <a:p>
            <a:r>
              <a:rPr lang="en-US" dirty="0"/>
              <a:t>  &lt;/body&gt;</a:t>
            </a:r>
          </a:p>
          <a:p>
            <a:r>
              <a:rPr lang="en-US" dirty="0"/>
              <a:t>&lt;/html&gt;</a:t>
            </a:r>
          </a:p>
        </p:txBody>
      </p:sp>
    </p:spTree>
    <p:extLst>
      <p:ext uri="{BB962C8B-B14F-4D97-AF65-F5344CB8AC3E}">
        <p14:creationId xmlns:p14="http://schemas.microsoft.com/office/powerpoint/2010/main" val="2119384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48478" y="2336873"/>
            <a:ext cx="5991225" cy="4152900"/>
          </a:xfrm>
          <a:prstGeom prst="rect">
            <a:avLst/>
          </a:prstGeom>
        </p:spPr>
      </p:pic>
    </p:spTree>
    <p:extLst>
      <p:ext uri="{BB962C8B-B14F-4D97-AF65-F5344CB8AC3E}">
        <p14:creationId xmlns:p14="http://schemas.microsoft.com/office/powerpoint/2010/main" val="1475367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&lt;main&gt; element</a:t>
            </a:r>
          </a:p>
          <a:p>
            <a:r>
              <a:rPr lang="en-US" dirty="0"/>
              <a:t>The </a:t>
            </a:r>
            <a:r>
              <a:rPr lang="en-US" u="sng" dirty="0">
                <a:hlinkClick r:id="rId2"/>
              </a:rPr>
              <a:t>&lt;main&gt;</a:t>
            </a:r>
            <a:r>
              <a:rPr lang="en-US" dirty="0"/>
              <a:t> element defines the main content of the page. The content of the &lt;main&gt; tag must be unique and not duplicate blocks of the same type that are repeated in other documents, such as the header of a site, footer, menu, search, copyright information, etc.</a:t>
            </a:r>
          </a:p>
          <a:p>
            <a:endParaRPr lang="en-US" dirty="0"/>
          </a:p>
        </p:txBody>
      </p:sp>
    </p:spTree>
    <p:extLst>
      <p:ext uri="{BB962C8B-B14F-4D97-AF65-F5344CB8AC3E}">
        <p14:creationId xmlns:p14="http://schemas.microsoft.com/office/powerpoint/2010/main" val="26517776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25000" lnSpcReduction="20000"/>
          </a:bodyPr>
          <a:lstStyle/>
          <a:p>
            <a:r>
              <a:rPr lang="en-US" dirty="0"/>
              <a:t>&lt;!DOCTYPE html&gt;</a:t>
            </a:r>
          </a:p>
          <a:p>
            <a:r>
              <a:rPr lang="en-US" dirty="0"/>
              <a:t>&lt;html&gt;</a:t>
            </a:r>
          </a:p>
          <a:p>
            <a:r>
              <a:rPr lang="en-US" dirty="0"/>
              <a:t>  &lt;head&gt;</a:t>
            </a:r>
          </a:p>
          <a:p>
            <a:r>
              <a:rPr lang="en-US" dirty="0"/>
              <a:t>    &lt;title&gt;Main element&lt;/title&gt;</a:t>
            </a:r>
          </a:p>
          <a:p>
            <a:r>
              <a:rPr lang="en-US" dirty="0"/>
              <a:t>  &lt;/head&gt;</a:t>
            </a:r>
          </a:p>
          <a:p>
            <a:r>
              <a:rPr lang="en-US" dirty="0"/>
              <a:t>  &lt;body&gt;</a:t>
            </a:r>
          </a:p>
          <a:p>
            <a:r>
              <a:rPr lang="en-US" dirty="0"/>
              <a:t>    &lt;main&gt;</a:t>
            </a:r>
          </a:p>
          <a:p>
            <a:r>
              <a:rPr lang="en-US" dirty="0"/>
              <a:t>      &lt;h1&gt;Programming languages&lt;/h1&gt;</a:t>
            </a:r>
          </a:p>
          <a:p>
            <a:r>
              <a:rPr lang="en-US" dirty="0"/>
              <a:t>      &lt;p&gt;Languages HTML and CSS are intended for site layout.&lt;/p&gt;</a:t>
            </a:r>
          </a:p>
          <a:p>
            <a:r>
              <a:rPr lang="en-US" dirty="0"/>
              <a:t>      &lt;article&gt;</a:t>
            </a:r>
          </a:p>
          <a:p>
            <a:r>
              <a:rPr lang="en-US" dirty="0"/>
              <a:t>        &lt;h2&gt;HTML&lt;/h2&gt;</a:t>
            </a:r>
          </a:p>
          <a:p>
            <a:r>
              <a:rPr lang="en-US" dirty="0"/>
              <a:t>        &lt;p&gt; HTML is a language of hypertext markup, which is used to create web pages. &lt;/p&gt;</a:t>
            </a:r>
          </a:p>
          <a:p>
            <a:r>
              <a:rPr lang="en-US" dirty="0"/>
              <a:t>        &lt;p&gt;... &lt;/p&gt;</a:t>
            </a:r>
          </a:p>
          <a:p>
            <a:r>
              <a:rPr lang="en-US" dirty="0"/>
              <a:t>        &lt;p&gt;... &lt;/p&gt;</a:t>
            </a:r>
          </a:p>
          <a:p>
            <a:r>
              <a:rPr lang="en-US" dirty="0"/>
              <a:t>      &lt;/article&gt;</a:t>
            </a:r>
          </a:p>
          <a:p>
            <a:r>
              <a:rPr lang="en-US" dirty="0"/>
              <a:t>      &lt;article&gt;</a:t>
            </a:r>
          </a:p>
          <a:p>
            <a:r>
              <a:rPr lang="en-US" dirty="0"/>
              <a:t>        &lt;h2&gt;CSS&lt;/h2&gt;</a:t>
            </a:r>
          </a:p>
          <a:p>
            <a:r>
              <a:rPr lang="en-US" dirty="0"/>
              <a:t>        &lt;p&gt;CSS is a language of styles, defining the display of HTML documents. &lt;/p&gt;</a:t>
            </a:r>
          </a:p>
          <a:p>
            <a:r>
              <a:rPr lang="en-US" dirty="0"/>
              <a:t>        &lt;p&gt;... &lt;/p&gt;</a:t>
            </a:r>
          </a:p>
          <a:p>
            <a:r>
              <a:rPr lang="en-US" dirty="0"/>
              <a:t>      &lt;/article&gt;</a:t>
            </a:r>
          </a:p>
          <a:p>
            <a:r>
              <a:rPr lang="en-US" dirty="0"/>
              <a:t>    &lt;/main&gt;</a:t>
            </a:r>
          </a:p>
          <a:p>
            <a:r>
              <a:rPr lang="en-US" dirty="0"/>
              <a:t>  &lt;/body&gt;</a:t>
            </a:r>
          </a:p>
          <a:p>
            <a:r>
              <a:rPr lang="en-US" dirty="0"/>
              <a:t>&lt;/html&gt;</a:t>
            </a:r>
          </a:p>
        </p:txBody>
      </p:sp>
    </p:spTree>
    <p:extLst>
      <p:ext uri="{BB962C8B-B14F-4D97-AF65-F5344CB8AC3E}">
        <p14:creationId xmlns:p14="http://schemas.microsoft.com/office/powerpoint/2010/main" val="40815557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92974" y="2142309"/>
            <a:ext cx="9525000" cy="4789986"/>
          </a:xfrm>
          <a:prstGeom prst="rect">
            <a:avLst/>
          </a:prstGeom>
        </p:spPr>
      </p:pic>
    </p:spTree>
    <p:extLst>
      <p:ext uri="{BB962C8B-B14F-4D97-AF65-F5344CB8AC3E}">
        <p14:creationId xmlns:p14="http://schemas.microsoft.com/office/powerpoint/2010/main" val="39800387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&lt;figure&gt; element</a:t>
            </a:r>
          </a:p>
          <a:p>
            <a:r>
              <a:rPr lang="en-US" dirty="0"/>
              <a:t>The </a:t>
            </a:r>
            <a:r>
              <a:rPr lang="en-US" u="sng" dirty="0">
                <a:hlinkClick r:id="rId2"/>
              </a:rPr>
              <a:t>&lt;figure&gt;</a:t>
            </a:r>
            <a:r>
              <a:rPr lang="en-US" dirty="0"/>
              <a:t> element is used for indicating self-contained content. The tag can include images, diagrams, illustrations, code examples, etc.</a:t>
            </a:r>
          </a:p>
          <a:p>
            <a:endParaRPr lang="en-US" dirty="0"/>
          </a:p>
        </p:txBody>
      </p:sp>
    </p:spTree>
    <p:extLst>
      <p:ext uri="{BB962C8B-B14F-4D97-AF65-F5344CB8AC3E}">
        <p14:creationId xmlns:p14="http://schemas.microsoft.com/office/powerpoint/2010/main" val="15021071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&lt;p&gt;A cute baby&lt;/p&gt;</a:t>
            </a:r>
          </a:p>
          <a:p>
            <a:r>
              <a:rPr lang="en-US" dirty="0"/>
              <a:t>    &lt;figure&gt;</a:t>
            </a:r>
          </a:p>
          <a:p>
            <a:r>
              <a:rPr lang="en-US" dirty="0"/>
              <a:t>      &lt;</a:t>
            </a:r>
            <a:r>
              <a:rPr lang="en-US" dirty="0" err="1"/>
              <a:t>img</a:t>
            </a:r>
            <a:r>
              <a:rPr lang="en-US" dirty="0"/>
              <a:t> </a:t>
            </a:r>
            <a:r>
              <a:rPr lang="en-US" dirty="0" err="1"/>
              <a:t>src</a:t>
            </a:r>
            <a:r>
              <a:rPr lang="en-US" dirty="0"/>
              <a:t>="/uploads/media/default/0001/01/25acddb3da54207bc6beb5838f65f022feaa81d7.jpeg" alt="A Cute Baby" width="250" height="200"&gt;</a:t>
            </a:r>
          </a:p>
          <a:p>
            <a:r>
              <a:rPr lang="en-US" dirty="0"/>
              <a:t>    &lt;/figure&gt;</a:t>
            </a:r>
          </a:p>
          <a:p>
            <a:r>
              <a:rPr lang="en-US" dirty="0"/>
              <a:t>  &lt;/body&gt;</a:t>
            </a:r>
          </a:p>
          <a:p>
            <a:r>
              <a:rPr lang="en-US" dirty="0"/>
              <a:t>&lt;/html&gt;</a:t>
            </a:r>
          </a:p>
        </p:txBody>
      </p:sp>
    </p:spTree>
    <p:extLst>
      <p:ext uri="{BB962C8B-B14F-4D97-AF65-F5344CB8AC3E}">
        <p14:creationId xmlns:p14="http://schemas.microsoft.com/office/powerpoint/2010/main" val="25161712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80321" y="2089920"/>
            <a:ext cx="6238875" cy="3914775"/>
          </a:xfrm>
          <a:prstGeom prst="rect">
            <a:avLst/>
          </a:prstGeom>
        </p:spPr>
      </p:pic>
    </p:spTree>
    <p:extLst>
      <p:ext uri="{BB962C8B-B14F-4D97-AF65-F5344CB8AC3E}">
        <p14:creationId xmlns:p14="http://schemas.microsoft.com/office/powerpoint/2010/main" val="12045753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a:t>
            </a:r>
            <a:r>
              <a:rPr lang="en-US" b="1" dirty="0" err="1"/>
              <a:t>figcaption</a:t>
            </a:r>
            <a:r>
              <a:rPr lang="en-US" b="1" dirty="0"/>
              <a:t>&gt; element</a:t>
            </a:r>
          </a:p>
          <a:p>
            <a:r>
              <a:rPr lang="en-US" dirty="0"/>
              <a:t>The </a:t>
            </a:r>
            <a:r>
              <a:rPr lang="en-US" u="sng" dirty="0">
                <a:hlinkClick r:id="rId2"/>
              </a:rPr>
              <a:t>&lt;</a:t>
            </a:r>
            <a:r>
              <a:rPr lang="en-US" u="sng" dirty="0" err="1">
                <a:hlinkClick r:id="rId2"/>
              </a:rPr>
              <a:t>figcaption</a:t>
            </a:r>
            <a:r>
              <a:rPr lang="en-US" u="sng" dirty="0">
                <a:hlinkClick r:id="rId2"/>
              </a:rPr>
              <a:t>&gt;</a:t>
            </a:r>
            <a:r>
              <a:rPr lang="en-US" dirty="0"/>
              <a:t> element is used for adding signature or annotation to the &lt;figure&gt; tag.</a:t>
            </a:r>
          </a:p>
          <a:p>
            <a:endParaRPr lang="en-US" dirty="0"/>
          </a:p>
        </p:txBody>
      </p:sp>
    </p:spTree>
    <p:extLst>
      <p:ext uri="{BB962C8B-B14F-4D97-AF65-F5344CB8AC3E}">
        <p14:creationId xmlns:p14="http://schemas.microsoft.com/office/powerpoint/2010/main" val="10855174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&lt;p&gt;Image of a baby&lt;/p&gt;</a:t>
            </a:r>
          </a:p>
          <a:p>
            <a:r>
              <a:rPr lang="en-US" dirty="0"/>
              <a:t>    &lt;figure&gt;</a:t>
            </a:r>
          </a:p>
          <a:p>
            <a:r>
              <a:rPr lang="en-US" dirty="0"/>
              <a:t>      &lt;</a:t>
            </a:r>
            <a:r>
              <a:rPr lang="en-US" dirty="0" err="1"/>
              <a:t>img</a:t>
            </a:r>
            <a:r>
              <a:rPr lang="en-US" dirty="0"/>
              <a:t> </a:t>
            </a:r>
            <a:r>
              <a:rPr lang="en-US" dirty="0" err="1"/>
              <a:t>src</a:t>
            </a:r>
            <a:r>
              <a:rPr lang="en-US" dirty="0"/>
              <a:t>="/uploads/media/default/0001/01/25acddb3da54207bc6beb5838f65f022feaa81d7.jpeg" alt="A Cute Baby" width="250" height="200"&gt;</a:t>
            </a:r>
          </a:p>
          <a:p>
            <a:r>
              <a:rPr lang="en-US" dirty="0"/>
              <a:t>      &lt;</a:t>
            </a:r>
            <a:r>
              <a:rPr lang="en-US" dirty="0" err="1"/>
              <a:t>figcaption</a:t>
            </a:r>
            <a:r>
              <a:rPr lang="en-US" dirty="0"/>
              <a:t>&gt;Fig.1 – Cute baby&lt;/</a:t>
            </a:r>
            <a:r>
              <a:rPr lang="en-US" dirty="0" err="1"/>
              <a:t>figcaption</a:t>
            </a:r>
            <a:r>
              <a:rPr lang="en-US" dirty="0"/>
              <a:t>&gt;</a:t>
            </a:r>
          </a:p>
          <a:p>
            <a:r>
              <a:rPr lang="en-US" dirty="0"/>
              <a:t>    &lt;/figure&gt;</a:t>
            </a:r>
          </a:p>
          <a:p>
            <a:r>
              <a:rPr lang="en-US" dirty="0"/>
              <a:t>  &lt;/body&gt;</a:t>
            </a:r>
          </a:p>
          <a:p>
            <a:r>
              <a:rPr lang="en-US" dirty="0"/>
              <a:t>&lt;/html&gt;</a:t>
            </a:r>
          </a:p>
        </p:txBody>
      </p:sp>
    </p:spTree>
    <p:extLst>
      <p:ext uri="{BB962C8B-B14F-4D97-AF65-F5344CB8AC3E}">
        <p14:creationId xmlns:p14="http://schemas.microsoft.com/office/powerpoint/2010/main" val="36437991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53031" y="1293697"/>
            <a:ext cx="8239125" cy="5162550"/>
          </a:xfrm>
          <a:prstGeom prst="rect">
            <a:avLst/>
          </a:prstGeom>
        </p:spPr>
      </p:pic>
    </p:spTree>
    <p:extLst>
      <p:ext uri="{BB962C8B-B14F-4D97-AF65-F5344CB8AC3E}">
        <p14:creationId xmlns:p14="http://schemas.microsoft.com/office/powerpoint/2010/main" val="19497420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&lt;time&gt; element</a:t>
            </a:r>
          </a:p>
          <a:p>
            <a:r>
              <a:rPr lang="en-US" dirty="0"/>
              <a:t>The </a:t>
            </a:r>
            <a:r>
              <a:rPr lang="en-US" u="sng" dirty="0">
                <a:hlinkClick r:id="rId2"/>
              </a:rPr>
              <a:t>&lt;time&gt;</a:t>
            </a:r>
            <a:r>
              <a:rPr lang="en-US" dirty="0"/>
              <a:t> element defines a human-readable time on a 24-hour clock or a precise date in the Gregorian calendar.</a:t>
            </a:r>
          </a:p>
          <a:p>
            <a:endParaRPr lang="en-US" dirty="0"/>
          </a:p>
        </p:txBody>
      </p:sp>
    </p:spTree>
    <p:extLst>
      <p:ext uri="{BB962C8B-B14F-4D97-AF65-F5344CB8AC3E}">
        <p14:creationId xmlns:p14="http://schemas.microsoft.com/office/powerpoint/2010/main" val="31861053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&lt;p&gt;Exam time will be&lt;time </a:t>
            </a:r>
            <a:r>
              <a:rPr lang="en-US" dirty="0" err="1"/>
              <a:t>datetime</a:t>
            </a:r>
            <a:r>
              <a:rPr lang="en-US" dirty="0"/>
              <a:t>="2022-12-28 21:00"&gt;September 28&lt;/time&gt;.&lt;/p&gt;</a:t>
            </a:r>
          </a:p>
          <a:p>
            <a:r>
              <a:rPr lang="en-US" dirty="0"/>
              <a:t>    &lt;p&gt;It will start at &lt;time&gt;19:00&lt;/time&gt;&lt;/p&gt;</a:t>
            </a:r>
          </a:p>
          <a:p>
            <a:r>
              <a:rPr lang="en-US" dirty="0"/>
              <a:t>  &lt;/body&gt;</a:t>
            </a:r>
          </a:p>
          <a:p>
            <a:r>
              <a:rPr lang="en-US" dirty="0"/>
              <a:t>&lt;/html&gt;</a:t>
            </a:r>
          </a:p>
          <a:p>
            <a:endParaRPr lang="en-US" dirty="0"/>
          </a:p>
        </p:txBody>
      </p:sp>
    </p:spTree>
    <p:extLst>
      <p:ext uri="{BB962C8B-B14F-4D97-AF65-F5344CB8AC3E}">
        <p14:creationId xmlns:p14="http://schemas.microsoft.com/office/powerpoint/2010/main" val="26685663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80321" y="2241913"/>
            <a:ext cx="6619875" cy="3314700"/>
          </a:xfrm>
          <a:prstGeom prst="rect">
            <a:avLst/>
          </a:prstGeom>
        </p:spPr>
      </p:pic>
    </p:spTree>
    <p:extLst>
      <p:ext uri="{BB962C8B-B14F-4D97-AF65-F5344CB8AC3E}">
        <p14:creationId xmlns:p14="http://schemas.microsoft.com/office/powerpoint/2010/main" val="30401783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&lt;mark&gt; element</a:t>
            </a:r>
          </a:p>
          <a:p>
            <a:r>
              <a:rPr lang="en-US" dirty="0"/>
              <a:t>The </a:t>
            </a:r>
            <a:r>
              <a:rPr lang="en-US" u="sng" dirty="0">
                <a:hlinkClick r:id="rId2"/>
              </a:rPr>
              <a:t>&lt;mark&gt;</a:t>
            </a:r>
            <a:r>
              <a:rPr lang="en-US" dirty="0"/>
              <a:t> element is used to mark a part of the text which has relevance. It can be used to highlight a text for showing emphasis, highlight search terms in search results to provide context, or distinguish a new content added by the user by showing it differently.</a:t>
            </a:r>
          </a:p>
          <a:p>
            <a:endParaRPr lang="en-US" dirty="0"/>
          </a:p>
        </p:txBody>
      </p:sp>
    </p:spTree>
    <p:extLst>
      <p:ext uri="{BB962C8B-B14F-4D97-AF65-F5344CB8AC3E}">
        <p14:creationId xmlns:p14="http://schemas.microsoft.com/office/powerpoint/2010/main" val="11795761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&lt;p&gt;Learn </a:t>
            </a:r>
            <a:r>
              <a:rPr lang="en-US" dirty="0" err="1"/>
              <a:t>HyperText</a:t>
            </a:r>
            <a:r>
              <a:rPr lang="en-US" dirty="0"/>
              <a:t> markup language (HTML) on &lt;mark&gt;abcd.com&lt;/mark&gt; website.&lt;/p&gt;</a:t>
            </a:r>
          </a:p>
          <a:p>
            <a:r>
              <a:rPr lang="en-US" dirty="0"/>
              <a:t>  &lt;/body&gt;</a:t>
            </a:r>
          </a:p>
          <a:p>
            <a:r>
              <a:rPr lang="en-US" dirty="0"/>
              <a:t>&lt;/html&gt;</a:t>
            </a:r>
          </a:p>
        </p:txBody>
      </p:sp>
    </p:spTree>
    <p:extLst>
      <p:ext uri="{BB962C8B-B14F-4D97-AF65-F5344CB8AC3E}">
        <p14:creationId xmlns:p14="http://schemas.microsoft.com/office/powerpoint/2010/main" val="23222232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64053" y="2644412"/>
            <a:ext cx="8286750" cy="2457450"/>
          </a:xfrm>
          <a:prstGeom prst="rect">
            <a:avLst/>
          </a:prstGeom>
        </p:spPr>
      </p:pic>
    </p:spTree>
    <p:extLst>
      <p:ext uri="{BB962C8B-B14F-4D97-AF65-F5344CB8AC3E}">
        <p14:creationId xmlns:p14="http://schemas.microsoft.com/office/powerpoint/2010/main" val="6189039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a:t>
            </a:r>
            <a:r>
              <a:rPr lang="en-US" b="1" dirty="0" err="1"/>
              <a:t>bdi</a:t>
            </a:r>
            <a:r>
              <a:rPr lang="en-US" b="1" dirty="0"/>
              <a:t>&gt; element</a:t>
            </a:r>
          </a:p>
          <a:p>
            <a:r>
              <a:rPr lang="en-US" dirty="0"/>
              <a:t>The </a:t>
            </a:r>
            <a:r>
              <a:rPr lang="en-US" u="sng" dirty="0">
                <a:hlinkClick r:id="rId2"/>
              </a:rPr>
              <a:t>&lt;</a:t>
            </a:r>
            <a:r>
              <a:rPr lang="en-US" u="sng" dirty="0" err="1">
                <a:hlinkClick r:id="rId2"/>
              </a:rPr>
              <a:t>bdi</a:t>
            </a:r>
            <a:r>
              <a:rPr lang="en-US" u="sng" dirty="0">
                <a:hlinkClick r:id="rId2"/>
              </a:rPr>
              <a:t>&gt;</a:t>
            </a:r>
            <a:r>
              <a:rPr lang="en-US" dirty="0"/>
              <a:t> element is used to isolate bidirectional text when a language with a right-to-left directionality, such as Arabic or Hebrew, is used inline with left-to-right languages.</a:t>
            </a:r>
          </a:p>
          <a:p>
            <a:endParaRPr lang="en-US" dirty="0"/>
          </a:p>
        </p:txBody>
      </p:sp>
    </p:spTree>
    <p:extLst>
      <p:ext uri="{BB962C8B-B14F-4D97-AF65-F5344CB8AC3E}">
        <p14:creationId xmlns:p14="http://schemas.microsoft.com/office/powerpoint/2010/main" val="36826458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&lt;!DOCTYPE html&gt;</a:t>
            </a:r>
          </a:p>
          <a:p>
            <a:r>
              <a:rPr lang="en-US" dirty="0"/>
              <a:t>&lt;html&gt;</a:t>
            </a:r>
          </a:p>
          <a:p>
            <a:r>
              <a:rPr lang="en-US" dirty="0"/>
              <a:t>  &lt;head&gt;</a:t>
            </a:r>
          </a:p>
          <a:p>
            <a:r>
              <a:rPr lang="en-US" dirty="0"/>
              <a:t>    &lt;title&gt;Title of the </a:t>
            </a:r>
            <a:r>
              <a:rPr lang="en-US" dirty="0" err="1"/>
              <a:t>documnet</a:t>
            </a:r>
            <a:r>
              <a:rPr lang="en-US" dirty="0"/>
              <a:t>&lt;/title&gt;</a:t>
            </a:r>
          </a:p>
          <a:p>
            <a:r>
              <a:rPr lang="en-US" dirty="0"/>
              <a:t>  &lt;/head&gt;</a:t>
            </a:r>
          </a:p>
          <a:p>
            <a:r>
              <a:rPr lang="en-US" dirty="0"/>
              <a:t>  &lt;body&gt;</a:t>
            </a:r>
          </a:p>
          <a:p>
            <a:r>
              <a:rPr lang="en-US" dirty="0"/>
              <a:t>    &lt;h1&gt; Example of using the </a:t>
            </a:r>
            <a:r>
              <a:rPr lang="en-US" dirty="0" err="1"/>
              <a:t>bdi</a:t>
            </a:r>
            <a:r>
              <a:rPr lang="en-US" dirty="0"/>
              <a:t> element &lt;/h1&gt;</a:t>
            </a:r>
          </a:p>
          <a:p>
            <a:r>
              <a:rPr lang="en-US" dirty="0"/>
              <a:t>    &lt;p </a:t>
            </a:r>
            <a:r>
              <a:rPr lang="en-US" dirty="0" err="1"/>
              <a:t>dir</a:t>
            </a:r>
            <a:r>
              <a:rPr lang="en-US" dirty="0"/>
              <a:t>="</a:t>
            </a:r>
            <a:r>
              <a:rPr lang="en-US" dirty="0" err="1"/>
              <a:t>ltr</a:t>
            </a:r>
            <a:r>
              <a:rPr lang="en-US" dirty="0"/>
              <a:t>"&gt;&lt;</a:t>
            </a:r>
            <a:r>
              <a:rPr lang="en-US" dirty="0" err="1"/>
              <a:t>bdi</a:t>
            </a:r>
            <a:r>
              <a:rPr lang="en-US" dirty="0"/>
              <a:t>&gt;</a:t>
            </a:r>
            <a:r>
              <a:rPr lang="ar-AE" dirty="0"/>
              <a:t>أرمينيا جميلة&lt;/</a:t>
            </a:r>
            <a:r>
              <a:rPr lang="en-US" dirty="0" err="1"/>
              <a:t>bdi</a:t>
            </a:r>
            <a:r>
              <a:rPr lang="en-US" dirty="0"/>
              <a:t>&gt; This sentence in Arabic is automatically displayed from right to left.&lt;/p&gt;</a:t>
            </a:r>
          </a:p>
          <a:p>
            <a:r>
              <a:rPr lang="en-US" dirty="0"/>
              <a:t>  &lt;/body&gt;</a:t>
            </a:r>
          </a:p>
          <a:p>
            <a:r>
              <a:rPr lang="en-US" dirty="0"/>
              <a:t>&lt;/html&gt;</a:t>
            </a:r>
          </a:p>
        </p:txBody>
      </p:sp>
    </p:spTree>
    <p:extLst>
      <p:ext uri="{BB962C8B-B14F-4D97-AF65-F5344CB8AC3E}">
        <p14:creationId xmlns:p14="http://schemas.microsoft.com/office/powerpoint/2010/main" val="20094628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18828" y="2403838"/>
            <a:ext cx="9734550" cy="2990850"/>
          </a:xfrm>
          <a:prstGeom prst="rect">
            <a:avLst/>
          </a:prstGeom>
        </p:spPr>
      </p:pic>
    </p:spTree>
    <p:extLst>
      <p:ext uri="{BB962C8B-B14F-4D97-AF65-F5344CB8AC3E}">
        <p14:creationId xmlns:p14="http://schemas.microsoft.com/office/powerpoint/2010/main" val="23923702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The &lt;</a:t>
            </a:r>
            <a:r>
              <a:rPr lang="en-US" b="1" dirty="0" err="1"/>
              <a:t>wbr</a:t>
            </a:r>
            <a:r>
              <a:rPr lang="en-US" b="1" dirty="0"/>
              <a:t>&gt; element</a:t>
            </a:r>
          </a:p>
          <a:p>
            <a:r>
              <a:rPr lang="en-US" dirty="0"/>
              <a:t>The </a:t>
            </a:r>
            <a:r>
              <a:rPr lang="en-US" u="sng" dirty="0">
                <a:hlinkClick r:id="rId2"/>
              </a:rPr>
              <a:t>&lt;</a:t>
            </a:r>
            <a:r>
              <a:rPr lang="en-US" u="sng" dirty="0" err="1">
                <a:hlinkClick r:id="rId2"/>
              </a:rPr>
              <a:t>wbr</a:t>
            </a:r>
            <a:r>
              <a:rPr lang="en-US" u="sng" dirty="0">
                <a:hlinkClick r:id="rId2"/>
              </a:rPr>
              <a:t>&gt;</a:t>
            </a:r>
            <a:r>
              <a:rPr lang="en-US" dirty="0"/>
              <a:t> tag is used to instruct the browser, where a line-break could be added in the text. Unlike the &lt;</a:t>
            </a:r>
            <a:r>
              <a:rPr lang="en-US" dirty="0" err="1"/>
              <a:t>br</a:t>
            </a:r>
            <a:r>
              <a:rPr lang="en-US" dirty="0"/>
              <a:t>&gt; tag, which obliges the browser to insert a line-break, in the case of &lt;</a:t>
            </a:r>
            <a:r>
              <a:rPr lang="en-US" dirty="0" err="1"/>
              <a:t>wbr</a:t>
            </a:r>
            <a:r>
              <a:rPr lang="en-US" dirty="0"/>
              <a:t>&gt; the browser first analyzes its content, and then inserts a line-break if necessary (too long word or URL address).</a:t>
            </a:r>
          </a:p>
          <a:p>
            <a:endParaRPr lang="en-US" dirty="0"/>
          </a:p>
        </p:txBody>
      </p:sp>
    </p:spTree>
    <p:extLst>
      <p:ext uri="{BB962C8B-B14F-4D97-AF65-F5344CB8AC3E}">
        <p14:creationId xmlns:p14="http://schemas.microsoft.com/office/powerpoint/2010/main" val="12683637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dirty="0"/>
              <a:t>&lt;!DOCTYPE html&gt;</a:t>
            </a:r>
          </a:p>
          <a:p>
            <a:r>
              <a:rPr lang="en-US" dirty="0"/>
              <a:t>&lt;html&gt;</a:t>
            </a:r>
          </a:p>
          <a:p>
            <a:r>
              <a:rPr lang="en-US" dirty="0"/>
              <a:t>  &lt;head&gt;</a:t>
            </a:r>
          </a:p>
          <a:p>
            <a:r>
              <a:rPr lang="en-US" dirty="0"/>
              <a:t>    &lt;title&gt;Title of the document&lt;/title&gt;</a:t>
            </a:r>
          </a:p>
          <a:p>
            <a:r>
              <a:rPr lang="en-US" dirty="0"/>
              <a:t>  &lt;/head&gt;</a:t>
            </a:r>
          </a:p>
          <a:p>
            <a:r>
              <a:rPr lang="en-US" dirty="0"/>
              <a:t>  &lt;body&gt;</a:t>
            </a:r>
          </a:p>
          <a:p>
            <a:r>
              <a:rPr lang="en-US" dirty="0"/>
              <a:t>    &lt;p&gt;Example of a long string of text without </a:t>
            </a:r>
            <a:r>
              <a:rPr lang="en-US" dirty="0" err="1"/>
              <a:t>wbr</a:t>
            </a:r>
            <a:r>
              <a:rPr lang="en-US" dirty="0"/>
              <a:t>.&lt;/p&gt;</a:t>
            </a:r>
          </a:p>
          <a:p>
            <a:r>
              <a:rPr lang="en-US" dirty="0"/>
              <a:t>    &lt;p&gt;This is the longest word you can ever meet in the English &lt;/p&gt;</a:t>
            </a:r>
          </a:p>
          <a:p>
            <a:r>
              <a:rPr lang="en-US" dirty="0"/>
              <a:t>    &lt;p&gt;Example of a long string of text with </a:t>
            </a:r>
            <a:r>
              <a:rPr lang="en-US" dirty="0" err="1"/>
              <a:t>wbr</a:t>
            </a:r>
            <a:r>
              <a:rPr lang="en-US" dirty="0"/>
              <a:t>.&lt;/p&gt;</a:t>
            </a:r>
          </a:p>
          <a:p>
            <a:r>
              <a:rPr lang="en-US" dirty="0"/>
              <a:t>    &lt;p&gt;This is the longest word you can ever meet in the English language </a:t>
            </a:r>
            <a:r>
              <a:rPr lang="en-US" dirty="0" err="1"/>
              <a:t>pneumono</a:t>
            </a:r>
            <a:r>
              <a:rPr lang="en-US" dirty="0"/>
              <a:t>&lt;</a:t>
            </a:r>
            <a:r>
              <a:rPr lang="en-US" dirty="0" err="1"/>
              <a:t>wbr</a:t>
            </a:r>
            <a:r>
              <a:rPr lang="en-US" dirty="0"/>
              <a:t>&gt;ultra&lt;</a:t>
            </a:r>
            <a:r>
              <a:rPr lang="en-US" dirty="0" err="1"/>
              <a:t>wbr</a:t>
            </a:r>
            <a:r>
              <a:rPr lang="en-US" dirty="0"/>
              <a:t>&gt;micro&lt;</a:t>
            </a:r>
            <a:r>
              <a:rPr lang="en-US" dirty="0" err="1"/>
              <a:t>wbr</a:t>
            </a:r>
            <a:r>
              <a:rPr lang="en-US" dirty="0"/>
              <a:t>&gt;</a:t>
            </a:r>
            <a:r>
              <a:rPr lang="en-US" dirty="0" err="1"/>
              <a:t>scopic</a:t>
            </a:r>
            <a:r>
              <a:rPr lang="en-US" dirty="0"/>
              <a:t>&lt;</a:t>
            </a:r>
            <a:r>
              <a:rPr lang="en-US" dirty="0" err="1"/>
              <a:t>wbr</a:t>
            </a:r>
            <a:r>
              <a:rPr lang="en-US" dirty="0"/>
              <a:t>&gt;</a:t>
            </a:r>
            <a:r>
              <a:rPr lang="en-US" dirty="0" err="1"/>
              <a:t>silico</a:t>
            </a:r>
            <a:r>
              <a:rPr lang="en-US" dirty="0"/>
              <a:t>&lt;</a:t>
            </a:r>
            <a:r>
              <a:rPr lang="en-US" dirty="0" err="1"/>
              <a:t>wbr</a:t>
            </a:r>
            <a:r>
              <a:rPr lang="en-US" dirty="0"/>
              <a:t>&gt;volcano&lt;</a:t>
            </a:r>
            <a:r>
              <a:rPr lang="en-US" dirty="0" err="1"/>
              <a:t>wbr</a:t>
            </a:r>
            <a:r>
              <a:rPr lang="en-US" dirty="0"/>
              <a:t>&gt;</a:t>
            </a:r>
            <a:r>
              <a:rPr lang="en-US" dirty="0" err="1"/>
              <a:t>coniosis</a:t>
            </a:r>
            <a:r>
              <a:rPr lang="en-US" dirty="0"/>
              <a:t>&lt;/p&gt;</a:t>
            </a:r>
          </a:p>
          <a:p>
            <a:r>
              <a:rPr lang="en-US" dirty="0"/>
              <a:t>    &lt;/p&gt;</a:t>
            </a:r>
          </a:p>
          <a:p>
            <a:r>
              <a:rPr lang="en-US" dirty="0"/>
              <a:t>  &lt;/body&gt;</a:t>
            </a:r>
          </a:p>
          <a:p>
            <a:r>
              <a:rPr lang="en-US" dirty="0"/>
              <a:t>&lt;/html&gt;</a:t>
            </a:r>
          </a:p>
        </p:txBody>
      </p:sp>
    </p:spTree>
    <p:extLst>
      <p:ext uri="{BB962C8B-B14F-4D97-AF65-F5344CB8AC3E}">
        <p14:creationId xmlns:p14="http://schemas.microsoft.com/office/powerpoint/2010/main" val="13541465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92307" y="2336873"/>
            <a:ext cx="10803222" cy="3429000"/>
          </a:xfrm>
          <a:prstGeom prst="rect">
            <a:avLst/>
          </a:prstGeom>
        </p:spPr>
      </p:pic>
    </p:spTree>
    <p:extLst>
      <p:ext uri="{BB962C8B-B14F-4D97-AF65-F5344CB8AC3E}">
        <p14:creationId xmlns:p14="http://schemas.microsoft.com/office/powerpoint/2010/main" val="20115487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New Input Types in HTML5</a:t>
            </a:r>
          </a:p>
          <a:p>
            <a:r>
              <a:rPr lang="en-US" dirty="0"/>
              <a:t>HTML5 introduces several new &lt;input&gt; types like email, date, time, color, range, and so on. to improve the user experience and to make the forms more interactive. However, if a browser failed to recognize these new input types, it will treat them like a normal text box</a:t>
            </a:r>
          </a:p>
        </p:txBody>
      </p:sp>
    </p:spTree>
    <p:extLst>
      <p:ext uri="{BB962C8B-B14F-4D97-AF65-F5344CB8AC3E}">
        <p14:creationId xmlns:p14="http://schemas.microsoft.com/office/powerpoint/2010/main" val="39632794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Input Type Color</a:t>
            </a:r>
          </a:p>
          <a:p>
            <a:r>
              <a:rPr lang="en-US" dirty="0"/>
              <a:t>The color input type allows the user to select a color from a color picker and returns the color value in hexadecimal format (#</a:t>
            </a:r>
            <a:r>
              <a:rPr lang="en-US" dirty="0" err="1"/>
              <a:t>rrggbb</a:t>
            </a:r>
            <a:r>
              <a:rPr lang="en-US" dirty="0"/>
              <a:t>). If you don't specify a value, the default is #000000, which is black.</a:t>
            </a:r>
          </a:p>
          <a:p>
            <a:endParaRPr lang="en-US" dirty="0"/>
          </a:p>
          <a:p>
            <a:r>
              <a:rPr lang="en-US" dirty="0"/>
              <a:t>Let's try out the following example to understand how it basically works:</a:t>
            </a:r>
          </a:p>
          <a:p>
            <a:endParaRPr lang="en-US" dirty="0"/>
          </a:p>
          <a:p>
            <a:r>
              <a:rPr lang="en-US" dirty="0" err="1"/>
              <a:t>ExampleTry</a:t>
            </a:r>
            <a:r>
              <a:rPr lang="en-US" dirty="0"/>
              <a:t> this code »</a:t>
            </a:r>
          </a:p>
          <a:p>
            <a:r>
              <a:rPr lang="en-US" dirty="0"/>
              <a:t>&lt;form&gt;</a:t>
            </a:r>
          </a:p>
          <a:p>
            <a:r>
              <a:rPr lang="en-US" dirty="0"/>
              <a:t>    &lt;label for="</a:t>
            </a:r>
            <a:r>
              <a:rPr lang="en-US" dirty="0" err="1"/>
              <a:t>mycolor</a:t>
            </a:r>
            <a:r>
              <a:rPr lang="en-US" dirty="0"/>
              <a:t>"&gt;Select Color:&lt;/label&gt;</a:t>
            </a:r>
          </a:p>
          <a:p>
            <a:r>
              <a:rPr lang="en-US" dirty="0"/>
              <a:t>    &lt;input type="color" value="#00ff00" id="</a:t>
            </a:r>
            <a:r>
              <a:rPr lang="en-US" dirty="0" err="1"/>
              <a:t>mycolor</a:t>
            </a:r>
            <a:r>
              <a:rPr lang="en-US" dirty="0"/>
              <a:t>"&gt;</a:t>
            </a:r>
          </a:p>
          <a:p>
            <a:r>
              <a:rPr lang="en-US" dirty="0"/>
              <a:t>&lt;/form&gt;</a:t>
            </a:r>
          </a:p>
        </p:txBody>
      </p:sp>
    </p:spTree>
    <p:extLst>
      <p:ext uri="{BB962C8B-B14F-4D97-AF65-F5344CB8AC3E}">
        <p14:creationId xmlns:p14="http://schemas.microsoft.com/office/powerpoint/2010/main" val="32957976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Input Type Date</a:t>
            </a:r>
          </a:p>
          <a:p>
            <a:r>
              <a:rPr lang="en-US" dirty="0"/>
              <a:t>The date input type allows the user to select a date from a drop-down calendar.</a:t>
            </a:r>
          </a:p>
          <a:p>
            <a:endParaRPr lang="en-US" dirty="0"/>
          </a:p>
          <a:p>
            <a:r>
              <a:rPr lang="en-US" dirty="0"/>
              <a:t>The date value includes the year, month, and day, but not the time.</a:t>
            </a:r>
          </a:p>
          <a:p>
            <a:endParaRPr lang="en-US" dirty="0"/>
          </a:p>
          <a:p>
            <a:r>
              <a:rPr lang="en-US" dirty="0" err="1"/>
              <a:t>ExampleTry</a:t>
            </a:r>
            <a:r>
              <a:rPr lang="en-US" dirty="0"/>
              <a:t> this code »</a:t>
            </a:r>
          </a:p>
          <a:p>
            <a:r>
              <a:rPr lang="en-US" dirty="0"/>
              <a:t>&lt;form&gt;</a:t>
            </a:r>
          </a:p>
          <a:p>
            <a:r>
              <a:rPr lang="en-US" dirty="0"/>
              <a:t>    &lt;label for="</a:t>
            </a:r>
            <a:r>
              <a:rPr lang="en-US" dirty="0" err="1"/>
              <a:t>mydate</a:t>
            </a:r>
            <a:r>
              <a:rPr lang="en-US" dirty="0"/>
              <a:t>"&gt;Select Date:&lt;/label&gt;</a:t>
            </a:r>
          </a:p>
          <a:p>
            <a:r>
              <a:rPr lang="en-US" dirty="0"/>
              <a:t>    &lt;input type="date" value="2019-04-15" id="</a:t>
            </a:r>
            <a:r>
              <a:rPr lang="en-US" dirty="0" err="1"/>
              <a:t>mydate</a:t>
            </a:r>
            <a:r>
              <a:rPr lang="en-US" dirty="0"/>
              <a:t>"&gt;</a:t>
            </a:r>
          </a:p>
          <a:p>
            <a:r>
              <a:rPr lang="en-US" dirty="0"/>
              <a:t>&lt;/form&gt;</a:t>
            </a:r>
          </a:p>
        </p:txBody>
      </p:sp>
    </p:spTree>
    <p:extLst>
      <p:ext uri="{BB962C8B-B14F-4D97-AF65-F5344CB8AC3E}">
        <p14:creationId xmlns:p14="http://schemas.microsoft.com/office/powerpoint/2010/main" val="17815761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Input Type </a:t>
            </a:r>
            <a:r>
              <a:rPr lang="en-US" dirty="0" err="1"/>
              <a:t>Datetime</a:t>
            </a:r>
            <a:r>
              <a:rPr lang="en-US" dirty="0"/>
              <a:t>-local</a:t>
            </a:r>
          </a:p>
          <a:p>
            <a:r>
              <a:rPr lang="en-US" dirty="0"/>
              <a:t>The </a:t>
            </a:r>
            <a:r>
              <a:rPr lang="en-US" dirty="0" err="1"/>
              <a:t>datetime</a:t>
            </a:r>
            <a:r>
              <a:rPr lang="en-US" dirty="0"/>
              <a:t>-local input type allows the user to select both local date and time, including the year, month, and day as well as the time in hours and minutes.</a:t>
            </a:r>
          </a:p>
          <a:p>
            <a:endParaRPr lang="en-US" dirty="0"/>
          </a:p>
          <a:p>
            <a:r>
              <a:rPr lang="en-US" dirty="0"/>
              <a:t>Let's try out the following example to understand how it basically works:</a:t>
            </a:r>
          </a:p>
          <a:p>
            <a:endParaRPr lang="en-US" dirty="0"/>
          </a:p>
          <a:p>
            <a:r>
              <a:rPr lang="en-US" dirty="0" err="1"/>
              <a:t>ExampleTry</a:t>
            </a:r>
            <a:r>
              <a:rPr lang="en-US" dirty="0"/>
              <a:t> this code »</a:t>
            </a:r>
          </a:p>
          <a:p>
            <a:r>
              <a:rPr lang="en-US" dirty="0"/>
              <a:t>&lt;form&gt;</a:t>
            </a:r>
          </a:p>
          <a:p>
            <a:r>
              <a:rPr lang="en-US" dirty="0"/>
              <a:t>    &lt;label for="</a:t>
            </a:r>
            <a:r>
              <a:rPr lang="en-US" dirty="0" err="1"/>
              <a:t>mydatetime</a:t>
            </a:r>
            <a:r>
              <a:rPr lang="en-US" dirty="0"/>
              <a:t>"&gt;Choose Date and Time:&lt;/label&gt;</a:t>
            </a:r>
          </a:p>
          <a:p>
            <a:r>
              <a:rPr lang="en-US" dirty="0"/>
              <a:t>    &lt;input type="</a:t>
            </a:r>
            <a:r>
              <a:rPr lang="en-US" dirty="0" err="1"/>
              <a:t>datetime</a:t>
            </a:r>
            <a:r>
              <a:rPr lang="en-US" dirty="0"/>
              <a:t>-local" id="</a:t>
            </a:r>
            <a:r>
              <a:rPr lang="en-US" dirty="0" err="1"/>
              <a:t>mydatetime</a:t>
            </a:r>
            <a:r>
              <a:rPr lang="en-US" dirty="0"/>
              <a:t>"&gt;</a:t>
            </a:r>
          </a:p>
          <a:p>
            <a:r>
              <a:rPr lang="en-US" dirty="0"/>
              <a:t>&lt;/form&gt;</a:t>
            </a:r>
          </a:p>
        </p:txBody>
      </p:sp>
    </p:spTree>
    <p:extLst>
      <p:ext uri="{BB962C8B-B14F-4D97-AF65-F5344CB8AC3E}">
        <p14:creationId xmlns:p14="http://schemas.microsoft.com/office/powerpoint/2010/main" val="28347136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Input Type Email</a:t>
            </a:r>
          </a:p>
          <a:p>
            <a:r>
              <a:rPr lang="en-US" dirty="0"/>
              <a:t>The email input type allows the user to enter e-mail address. It is very similar to a standard text input type, but if it is used in combination with the required attribute, the browser may look for the patterns to ensure a properly-formatted e-mail address should be entered.</a:t>
            </a:r>
          </a:p>
          <a:p>
            <a:endParaRPr lang="en-US" dirty="0"/>
          </a:p>
          <a:p>
            <a:r>
              <a:rPr lang="en-US" dirty="0"/>
              <a:t>Let's try out this example by entering any e-mail address to see how it actually works:</a:t>
            </a:r>
          </a:p>
          <a:p>
            <a:endParaRPr lang="en-US" dirty="0"/>
          </a:p>
          <a:p>
            <a:r>
              <a:rPr lang="en-US" dirty="0" err="1"/>
              <a:t>ExampleTry</a:t>
            </a:r>
            <a:r>
              <a:rPr lang="en-US" dirty="0"/>
              <a:t> this code »</a:t>
            </a:r>
          </a:p>
          <a:p>
            <a:r>
              <a:rPr lang="en-US" dirty="0"/>
              <a:t>&lt;form&gt;</a:t>
            </a:r>
          </a:p>
          <a:p>
            <a:r>
              <a:rPr lang="en-US" dirty="0"/>
              <a:t>    &lt;label for="</a:t>
            </a:r>
            <a:r>
              <a:rPr lang="en-US" dirty="0" err="1"/>
              <a:t>myemail</a:t>
            </a:r>
            <a:r>
              <a:rPr lang="en-US" dirty="0"/>
              <a:t>"&gt;Enter Email Address:&lt;/label&gt;</a:t>
            </a:r>
          </a:p>
          <a:p>
            <a:r>
              <a:rPr lang="en-US" dirty="0"/>
              <a:t>    &lt;input type="email" id="</a:t>
            </a:r>
            <a:r>
              <a:rPr lang="en-US" dirty="0" err="1"/>
              <a:t>myemail</a:t>
            </a:r>
            <a:r>
              <a:rPr lang="en-US" dirty="0"/>
              <a:t>" required&gt;</a:t>
            </a:r>
          </a:p>
          <a:p>
            <a:r>
              <a:rPr lang="en-US" dirty="0"/>
              <a:t>&lt;/form&gt;</a:t>
            </a:r>
          </a:p>
        </p:txBody>
      </p:sp>
    </p:spTree>
    <p:extLst>
      <p:ext uri="{BB962C8B-B14F-4D97-AF65-F5344CB8AC3E}">
        <p14:creationId xmlns:p14="http://schemas.microsoft.com/office/powerpoint/2010/main" val="34993031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Input Type Month</a:t>
            </a:r>
          </a:p>
          <a:p>
            <a:r>
              <a:rPr lang="en-US" dirty="0"/>
              <a:t>The month input type allows the user to select a month and year from a drop-down calendar.</a:t>
            </a:r>
          </a:p>
          <a:p>
            <a:endParaRPr lang="en-US" dirty="0"/>
          </a:p>
          <a:p>
            <a:r>
              <a:rPr lang="en-US" dirty="0"/>
              <a:t>The value is a string in the format "YYYY-MM", where YYYY is the four-digit year and MM is the month number. Let's try out an example to see how this basically works:</a:t>
            </a:r>
          </a:p>
          <a:p>
            <a:endParaRPr lang="en-US" dirty="0"/>
          </a:p>
          <a:p>
            <a:r>
              <a:rPr lang="en-US" dirty="0" err="1"/>
              <a:t>ExampleTry</a:t>
            </a:r>
            <a:r>
              <a:rPr lang="en-US" dirty="0"/>
              <a:t> this code »</a:t>
            </a:r>
          </a:p>
          <a:p>
            <a:r>
              <a:rPr lang="en-US" dirty="0"/>
              <a:t>&lt;form&gt;</a:t>
            </a:r>
          </a:p>
          <a:p>
            <a:r>
              <a:rPr lang="en-US" dirty="0"/>
              <a:t>    &lt;label for="</a:t>
            </a:r>
            <a:r>
              <a:rPr lang="en-US" dirty="0" err="1"/>
              <a:t>mymonth</a:t>
            </a:r>
            <a:r>
              <a:rPr lang="en-US" dirty="0"/>
              <a:t>"&gt;Select Month:&lt;/label&gt;</a:t>
            </a:r>
          </a:p>
          <a:p>
            <a:r>
              <a:rPr lang="en-US" dirty="0"/>
              <a:t>    &lt;input type="month" id="</a:t>
            </a:r>
            <a:r>
              <a:rPr lang="en-US" dirty="0" err="1"/>
              <a:t>mymonth</a:t>
            </a:r>
            <a:r>
              <a:rPr lang="en-US" dirty="0"/>
              <a:t>"&gt;</a:t>
            </a:r>
          </a:p>
          <a:p>
            <a:r>
              <a:rPr lang="en-US" dirty="0"/>
              <a:t>&lt;/form&gt;</a:t>
            </a:r>
          </a:p>
        </p:txBody>
      </p:sp>
    </p:spTree>
    <p:extLst>
      <p:ext uri="{BB962C8B-B14F-4D97-AF65-F5344CB8AC3E}">
        <p14:creationId xmlns:p14="http://schemas.microsoft.com/office/powerpoint/2010/main" val="28906770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Input Type Number</a:t>
            </a:r>
          </a:p>
          <a:p>
            <a:r>
              <a:rPr lang="en-US" dirty="0"/>
              <a:t>The number input type can be used for entering a numerical value. You can also restrict the user to enter only acceptable values using the additional attributes min, max, and step.</a:t>
            </a:r>
          </a:p>
          <a:p>
            <a:endParaRPr lang="en-US" dirty="0"/>
          </a:p>
          <a:p>
            <a:r>
              <a:rPr lang="en-US" dirty="0"/>
              <a:t>The following example will allow you to enter a numeric value between 1 to 10.</a:t>
            </a:r>
          </a:p>
          <a:p>
            <a:endParaRPr lang="en-US" dirty="0"/>
          </a:p>
          <a:p>
            <a:r>
              <a:rPr lang="en-US" dirty="0" err="1"/>
              <a:t>ExampleTry</a:t>
            </a:r>
            <a:r>
              <a:rPr lang="en-US" dirty="0"/>
              <a:t> this code »</a:t>
            </a:r>
          </a:p>
          <a:p>
            <a:r>
              <a:rPr lang="en-US" dirty="0"/>
              <a:t>&lt;form&gt;</a:t>
            </a:r>
          </a:p>
          <a:p>
            <a:r>
              <a:rPr lang="en-US" dirty="0"/>
              <a:t>    &lt;label for="</a:t>
            </a:r>
            <a:r>
              <a:rPr lang="en-US" dirty="0" err="1"/>
              <a:t>mynumber</a:t>
            </a:r>
            <a:r>
              <a:rPr lang="en-US" dirty="0"/>
              <a:t>"&gt;Enter a Number:&lt;/label&gt;</a:t>
            </a:r>
          </a:p>
          <a:p>
            <a:r>
              <a:rPr lang="en-US" dirty="0"/>
              <a:t>    &lt;input type="number" min="1" max="10" step="0.5" id="</a:t>
            </a:r>
            <a:r>
              <a:rPr lang="en-US" dirty="0" err="1"/>
              <a:t>mynumber</a:t>
            </a:r>
            <a:r>
              <a:rPr lang="en-US" dirty="0"/>
              <a:t>"&gt;</a:t>
            </a:r>
          </a:p>
          <a:p>
            <a:r>
              <a:rPr lang="en-US" dirty="0"/>
              <a:t>&lt;/form&gt;</a:t>
            </a:r>
          </a:p>
        </p:txBody>
      </p:sp>
    </p:spTree>
    <p:extLst>
      <p:ext uri="{BB962C8B-B14F-4D97-AF65-F5344CB8AC3E}">
        <p14:creationId xmlns:p14="http://schemas.microsoft.com/office/powerpoint/2010/main" val="40631277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Input Type Range</a:t>
            </a:r>
          </a:p>
          <a:p>
            <a:r>
              <a:rPr lang="en-US" dirty="0"/>
              <a:t>The range input type can be used for entering a numerical value within a specified range. It works very similar to number input, but it offers a simpler control for entering a number.</a:t>
            </a:r>
          </a:p>
          <a:p>
            <a:endParaRPr lang="en-US" dirty="0"/>
          </a:p>
          <a:p>
            <a:r>
              <a:rPr lang="en-US" dirty="0"/>
              <a:t>Let's try out the following example to understand how it basically works:</a:t>
            </a:r>
          </a:p>
          <a:p>
            <a:endParaRPr lang="en-US" dirty="0"/>
          </a:p>
          <a:p>
            <a:r>
              <a:rPr lang="en-US" dirty="0" err="1"/>
              <a:t>ExampleTry</a:t>
            </a:r>
            <a:r>
              <a:rPr lang="en-US" dirty="0"/>
              <a:t> this code »</a:t>
            </a:r>
          </a:p>
          <a:p>
            <a:r>
              <a:rPr lang="en-US" dirty="0"/>
              <a:t>&lt;form&gt;</a:t>
            </a:r>
          </a:p>
          <a:p>
            <a:r>
              <a:rPr lang="en-US" dirty="0"/>
              <a:t>    &lt;label for="</a:t>
            </a:r>
            <a:r>
              <a:rPr lang="en-US" dirty="0" err="1"/>
              <a:t>mynumber</a:t>
            </a:r>
            <a:r>
              <a:rPr lang="en-US" dirty="0"/>
              <a:t>"&gt;Select a Number:&lt;/label&gt;</a:t>
            </a:r>
          </a:p>
          <a:p>
            <a:r>
              <a:rPr lang="en-US" dirty="0"/>
              <a:t>    &lt;input type="range" min="1" max="10" step="0.5" id="</a:t>
            </a:r>
            <a:r>
              <a:rPr lang="en-US" dirty="0" err="1"/>
              <a:t>mynumber</a:t>
            </a:r>
            <a:r>
              <a:rPr lang="en-US" dirty="0"/>
              <a:t>"&gt;    </a:t>
            </a:r>
          </a:p>
          <a:p>
            <a:r>
              <a:rPr lang="en-US" dirty="0"/>
              <a:t>&lt;/form&gt;</a:t>
            </a:r>
          </a:p>
        </p:txBody>
      </p:sp>
    </p:spTree>
    <p:extLst>
      <p:ext uri="{BB962C8B-B14F-4D97-AF65-F5344CB8AC3E}">
        <p14:creationId xmlns:p14="http://schemas.microsoft.com/office/powerpoint/2010/main" val="13784426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Input Type Search</a:t>
            </a:r>
          </a:p>
          <a:p>
            <a:r>
              <a:rPr lang="en-US" dirty="0"/>
              <a:t>The search input type can be used for creating search input fields.</a:t>
            </a:r>
          </a:p>
          <a:p>
            <a:endParaRPr lang="en-US" dirty="0"/>
          </a:p>
          <a:p>
            <a:r>
              <a:rPr lang="en-US" dirty="0"/>
              <a:t>A search field typically behaves like a regular text field, but in some browsers like Chrome and Safari as soon as you start typing in the search box a small cross appears on the right side of the field that lets you quickly clear the search field. Let's try out an example to see how it works:</a:t>
            </a:r>
          </a:p>
          <a:p>
            <a:endParaRPr lang="en-US" dirty="0"/>
          </a:p>
          <a:p>
            <a:r>
              <a:rPr lang="en-US" dirty="0" err="1"/>
              <a:t>ExampleTry</a:t>
            </a:r>
            <a:r>
              <a:rPr lang="en-US" dirty="0"/>
              <a:t> this code »</a:t>
            </a:r>
          </a:p>
          <a:p>
            <a:r>
              <a:rPr lang="en-US" dirty="0"/>
              <a:t>&lt;form&gt;</a:t>
            </a:r>
          </a:p>
          <a:p>
            <a:r>
              <a:rPr lang="en-US" dirty="0"/>
              <a:t>    &lt;label for="</a:t>
            </a:r>
            <a:r>
              <a:rPr lang="en-US" dirty="0" err="1"/>
              <a:t>mysearch</a:t>
            </a:r>
            <a:r>
              <a:rPr lang="en-US" dirty="0"/>
              <a:t>"&gt;Search Website:&lt;/label&gt;</a:t>
            </a:r>
          </a:p>
          <a:p>
            <a:r>
              <a:rPr lang="en-US" dirty="0"/>
              <a:t>    &lt;input type="search" id="</a:t>
            </a:r>
            <a:r>
              <a:rPr lang="en-US" dirty="0" err="1"/>
              <a:t>mysearch</a:t>
            </a:r>
            <a:r>
              <a:rPr lang="en-US" dirty="0"/>
              <a:t>"&gt;</a:t>
            </a:r>
          </a:p>
          <a:p>
            <a:r>
              <a:rPr lang="en-US" dirty="0"/>
              <a:t>&lt;/form&gt;</a:t>
            </a:r>
          </a:p>
        </p:txBody>
      </p:sp>
    </p:spTree>
    <p:extLst>
      <p:ext uri="{BB962C8B-B14F-4D97-AF65-F5344CB8AC3E}">
        <p14:creationId xmlns:p14="http://schemas.microsoft.com/office/powerpoint/2010/main" val="34128174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Input Type Time</a:t>
            </a:r>
          </a:p>
          <a:p>
            <a:r>
              <a:rPr lang="en-US" dirty="0"/>
              <a:t>The time input type can be used for entering a time (hours and minutes).</a:t>
            </a:r>
          </a:p>
          <a:p>
            <a:endParaRPr lang="en-US" dirty="0"/>
          </a:p>
          <a:p>
            <a:r>
              <a:rPr lang="en-US" dirty="0"/>
              <a:t>Browser may use 12- or 24-hour format for inputting times, based on local system's time setting.</a:t>
            </a:r>
          </a:p>
          <a:p>
            <a:endParaRPr lang="en-US" dirty="0"/>
          </a:p>
          <a:p>
            <a:r>
              <a:rPr lang="en-US" dirty="0" err="1"/>
              <a:t>ExampleTry</a:t>
            </a:r>
            <a:r>
              <a:rPr lang="en-US" dirty="0"/>
              <a:t> this code »</a:t>
            </a:r>
          </a:p>
          <a:p>
            <a:r>
              <a:rPr lang="en-US" dirty="0"/>
              <a:t>&lt;form&gt;</a:t>
            </a:r>
          </a:p>
          <a:p>
            <a:r>
              <a:rPr lang="en-US" dirty="0"/>
              <a:t>    &lt;label for="</a:t>
            </a:r>
            <a:r>
              <a:rPr lang="en-US" dirty="0" err="1"/>
              <a:t>mytime</a:t>
            </a:r>
            <a:r>
              <a:rPr lang="en-US" dirty="0"/>
              <a:t>"&gt;Select Time:&lt;/label&gt;</a:t>
            </a:r>
          </a:p>
          <a:p>
            <a:r>
              <a:rPr lang="en-US" dirty="0"/>
              <a:t>    &lt;input type="time" id="</a:t>
            </a:r>
            <a:r>
              <a:rPr lang="en-US" dirty="0" err="1"/>
              <a:t>mytime</a:t>
            </a:r>
            <a:r>
              <a:rPr lang="en-US" dirty="0"/>
              <a:t>"&gt;</a:t>
            </a:r>
          </a:p>
          <a:p>
            <a:r>
              <a:rPr lang="en-US" dirty="0"/>
              <a:t>&lt;/form&gt;</a:t>
            </a:r>
          </a:p>
        </p:txBody>
      </p:sp>
    </p:spTree>
    <p:extLst>
      <p:ext uri="{BB962C8B-B14F-4D97-AF65-F5344CB8AC3E}">
        <p14:creationId xmlns:p14="http://schemas.microsoft.com/office/powerpoint/2010/main" val="31819162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Input Type URL</a:t>
            </a:r>
          </a:p>
          <a:p>
            <a:r>
              <a:rPr lang="en-US" dirty="0"/>
              <a:t>The </a:t>
            </a:r>
            <a:r>
              <a:rPr lang="en-US" dirty="0" err="1"/>
              <a:t>url</a:t>
            </a:r>
            <a:r>
              <a:rPr lang="en-US" dirty="0"/>
              <a:t> input type can be used for entering URL's or web addresses.</a:t>
            </a:r>
          </a:p>
          <a:p>
            <a:endParaRPr lang="en-US" dirty="0"/>
          </a:p>
          <a:p>
            <a:r>
              <a:rPr lang="en-US" dirty="0"/>
              <a:t>You can use the multiple attribute to enter more than one URL. Also, if required attribute is specified browser will automatically carry out validation to ensure that only text that matches the standard format for URLs is entered into the input box. Let's see how this works:</a:t>
            </a:r>
          </a:p>
          <a:p>
            <a:endParaRPr lang="en-US" dirty="0"/>
          </a:p>
          <a:p>
            <a:r>
              <a:rPr lang="en-US" dirty="0" err="1"/>
              <a:t>ExampleTry</a:t>
            </a:r>
            <a:r>
              <a:rPr lang="en-US" dirty="0"/>
              <a:t> this code »</a:t>
            </a:r>
          </a:p>
          <a:p>
            <a:r>
              <a:rPr lang="en-US" dirty="0"/>
              <a:t>&lt;form&gt;</a:t>
            </a:r>
          </a:p>
          <a:p>
            <a:r>
              <a:rPr lang="en-US" dirty="0"/>
              <a:t>    &lt;label for="</a:t>
            </a:r>
            <a:r>
              <a:rPr lang="en-US" dirty="0" err="1"/>
              <a:t>myurl</a:t>
            </a:r>
            <a:r>
              <a:rPr lang="en-US" dirty="0"/>
              <a:t>"&gt;Enter Website URL:&lt;/label&gt;</a:t>
            </a:r>
          </a:p>
          <a:p>
            <a:r>
              <a:rPr lang="en-US" dirty="0"/>
              <a:t>    &lt;input type="</a:t>
            </a:r>
            <a:r>
              <a:rPr lang="en-US" dirty="0" err="1"/>
              <a:t>url</a:t>
            </a:r>
            <a:r>
              <a:rPr lang="en-US" dirty="0"/>
              <a:t>" id="</a:t>
            </a:r>
            <a:r>
              <a:rPr lang="en-US" dirty="0" err="1"/>
              <a:t>myurl</a:t>
            </a:r>
            <a:r>
              <a:rPr lang="en-US" dirty="0"/>
              <a:t>" required&gt;</a:t>
            </a:r>
          </a:p>
          <a:p>
            <a:r>
              <a:rPr lang="en-US" dirty="0"/>
              <a:t>&lt;/form&gt;</a:t>
            </a:r>
          </a:p>
        </p:txBody>
      </p:sp>
    </p:spTree>
    <p:extLst>
      <p:ext uri="{BB962C8B-B14F-4D97-AF65-F5344CB8AC3E}">
        <p14:creationId xmlns:p14="http://schemas.microsoft.com/office/powerpoint/2010/main" val="36491979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Input Type Week</a:t>
            </a:r>
          </a:p>
          <a:p>
            <a:r>
              <a:rPr lang="en-US" dirty="0"/>
              <a:t>The week input type allows the user to select a week and year from a drop-down calendar.</a:t>
            </a:r>
          </a:p>
          <a:p>
            <a:endParaRPr lang="en-US" dirty="0"/>
          </a:p>
          <a:p>
            <a:r>
              <a:rPr lang="en-US" dirty="0"/>
              <a:t>Let's try out the following example to understand how this works:</a:t>
            </a:r>
          </a:p>
          <a:p>
            <a:endParaRPr lang="en-US" dirty="0"/>
          </a:p>
          <a:p>
            <a:r>
              <a:rPr lang="en-US" dirty="0" err="1"/>
              <a:t>ExampleTry</a:t>
            </a:r>
            <a:r>
              <a:rPr lang="en-US" dirty="0"/>
              <a:t> this code »</a:t>
            </a:r>
          </a:p>
          <a:p>
            <a:r>
              <a:rPr lang="en-US" dirty="0"/>
              <a:t>&lt;form&gt;</a:t>
            </a:r>
          </a:p>
          <a:p>
            <a:r>
              <a:rPr lang="en-US" dirty="0"/>
              <a:t>    &lt;label for="</a:t>
            </a:r>
            <a:r>
              <a:rPr lang="en-US" dirty="0" err="1"/>
              <a:t>myweek</a:t>
            </a:r>
            <a:r>
              <a:rPr lang="en-US" dirty="0"/>
              <a:t>"&gt;Select Week:&lt;/label&gt;</a:t>
            </a:r>
          </a:p>
          <a:p>
            <a:r>
              <a:rPr lang="en-US" dirty="0"/>
              <a:t>    &lt;input type="week" id="</a:t>
            </a:r>
            <a:r>
              <a:rPr lang="en-US" dirty="0" err="1"/>
              <a:t>myweek</a:t>
            </a:r>
            <a:r>
              <a:rPr lang="en-US" dirty="0"/>
              <a:t>"&gt;</a:t>
            </a:r>
          </a:p>
          <a:p>
            <a:r>
              <a:rPr lang="en-US" dirty="0"/>
              <a:t>&lt;/form&gt;</a:t>
            </a:r>
          </a:p>
        </p:txBody>
      </p:sp>
    </p:spTree>
    <p:extLst>
      <p:ext uri="{BB962C8B-B14F-4D97-AF65-F5344CB8AC3E}">
        <p14:creationId xmlns:p14="http://schemas.microsoft.com/office/powerpoint/2010/main" val="25437929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HTML-5 </a:t>
            </a:r>
            <a:r>
              <a:rPr lang="en-IN" dirty="0" smtClean="0"/>
              <a:t>Audio </a:t>
            </a:r>
            <a:r>
              <a:rPr lang="en-IN" dirty="0"/>
              <a:t>Element</a:t>
            </a:r>
            <a:endParaRPr lang="en-US" dirty="0"/>
          </a:p>
        </p:txBody>
      </p:sp>
      <p:sp>
        <p:nvSpPr>
          <p:cNvPr id="3" name="Content Placeholder 2"/>
          <p:cNvSpPr>
            <a:spLocks noGrp="1"/>
          </p:cNvSpPr>
          <p:nvPr>
            <p:ph idx="1"/>
          </p:nvPr>
        </p:nvSpPr>
        <p:spPr/>
        <p:txBody>
          <a:bodyPr/>
          <a:lstStyle/>
          <a:p>
            <a:r>
              <a:rPr lang="en-US" dirty="0" smtClean="0"/>
              <a:t>The </a:t>
            </a:r>
            <a:r>
              <a:rPr lang="en-US" dirty="0"/>
              <a:t>newly introduced HTML5 &lt;audio&gt; element provides a standard way to embed audio in web pages. However, the audio element is relatively new but it works in most of the modern web browsers.</a:t>
            </a:r>
          </a:p>
          <a:p>
            <a:endParaRPr lang="en-US" dirty="0"/>
          </a:p>
          <a:p>
            <a:r>
              <a:rPr lang="en-US" dirty="0"/>
              <a:t>The following example simply inserts an audio into the HTML5 document, using the browser default set of controls, with one source defined by the </a:t>
            </a:r>
            <a:r>
              <a:rPr lang="en-US" dirty="0" err="1"/>
              <a:t>src</a:t>
            </a:r>
            <a:r>
              <a:rPr lang="en-US" dirty="0"/>
              <a:t> attribute.</a:t>
            </a:r>
          </a:p>
        </p:txBody>
      </p:sp>
    </p:spTree>
    <p:extLst>
      <p:ext uri="{BB962C8B-B14F-4D97-AF65-F5344CB8AC3E}">
        <p14:creationId xmlns:p14="http://schemas.microsoft.com/office/powerpoint/2010/main" val="6428135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&lt;!DOCTYPE html&gt;</a:t>
            </a:r>
          </a:p>
          <a:p>
            <a:r>
              <a:rPr lang="en-US" dirty="0"/>
              <a:t>&lt;html </a:t>
            </a:r>
            <a:r>
              <a:rPr lang="en-US" dirty="0" err="1"/>
              <a:t>lang</a:t>
            </a:r>
            <a:r>
              <a:rPr lang="en-US" dirty="0"/>
              <a:t>="</a:t>
            </a:r>
            <a:r>
              <a:rPr lang="en-US" dirty="0" err="1"/>
              <a:t>en</a:t>
            </a:r>
            <a:r>
              <a:rPr lang="en-US" dirty="0"/>
              <a:t>"&gt;</a:t>
            </a:r>
          </a:p>
          <a:p>
            <a:r>
              <a:rPr lang="en-US" dirty="0"/>
              <a:t>&lt;head&gt;</a:t>
            </a:r>
          </a:p>
          <a:p>
            <a:r>
              <a:rPr lang="en-US" dirty="0"/>
              <a:t>    &lt;meta charset="utf-8"&gt;</a:t>
            </a:r>
          </a:p>
          <a:p>
            <a:r>
              <a:rPr lang="en-US" dirty="0"/>
              <a:t>    &lt;title&gt;Embedding Audio into an HTML Page&lt;/title&gt;</a:t>
            </a:r>
          </a:p>
          <a:p>
            <a:r>
              <a:rPr lang="en-US" dirty="0"/>
              <a:t>&lt;/head&gt;</a:t>
            </a:r>
          </a:p>
          <a:p>
            <a:r>
              <a:rPr lang="en-US" dirty="0"/>
              <a:t>&lt;body&gt;</a:t>
            </a:r>
          </a:p>
          <a:p>
            <a:r>
              <a:rPr lang="en-US" dirty="0"/>
              <a:t>	&lt;audio controls="controls" </a:t>
            </a:r>
            <a:r>
              <a:rPr lang="en-US" dirty="0" err="1"/>
              <a:t>src</a:t>
            </a:r>
            <a:r>
              <a:rPr lang="en-US" dirty="0"/>
              <a:t>="/examples/audio/birds.mp3"&gt;</a:t>
            </a:r>
          </a:p>
          <a:p>
            <a:r>
              <a:rPr lang="en-US" dirty="0"/>
              <a:t>        Your browser does not support the HTML5 audio element.</a:t>
            </a:r>
          </a:p>
          <a:p>
            <a:r>
              <a:rPr lang="en-US" dirty="0"/>
              <a:t>    &lt;/audio&gt;</a:t>
            </a:r>
          </a:p>
          <a:p>
            <a:r>
              <a:rPr lang="en-US" dirty="0"/>
              <a:t>&lt;/body&gt;</a:t>
            </a:r>
          </a:p>
          <a:p>
            <a:r>
              <a:rPr lang="en-US" dirty="0"/>
              <a:t>&lt;/html&gt; </a:t>
            </a:r>
          </a:p>
        </p:txBody>
      </p:sp>
    </p:spTree>
    <p:extLst>
      <p:ext uri="{BB962C8B-B14F-4D97-AF65-F5344CB8AC3E}">
        <p14:creationId xmlns:p14="http://schemas.microsoft.com/office/powerpoint/2010/main" val="23729744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dirty="0"/>
              <a:t>&lt;!DOCTYPE html&gt;</a:t>
            </a:r>
          </a:p>
          <a:p>
            <a:r>
              <a:rPr lang="en-US" dirty="0"/>
              <a:t>&lt;html </a:t>
            </a:r>
            <a:r>
              <a:rPr lang="en-US" dirty="0" err="1"/>
              <a:t>lang</a:t>
            </a:r>
            <a:r>
              <a:rPr lang="en-US" dirty="0"/>
              <a:t>="</a:t>
            </a:r>
            <a:r>
              <a:rPr lang="en-US" dirty="0" err="1"/>
              <a:t>en</a:t>
            </a:r>
            <a:r>
              <a:rPr lang="en-US" dirty="0"/>
              <a:t>"&gt;</a:t>
            </a:r>
          </a:p>
          <a:p>
            <a:r>
              <a:rPr lang="en-US" dirty="0"/>
              <a:t>&lt;head&gt;</a:t>
            </a:r>
          </a:p>
          <a:p>
            <a:r>
              <a:rPr lang="en-US" dirty="0"/>
              <a:t>    &lt;meta charset="utf-8"&gt;</a:t>
            </a:r>
          </a:p>
          <a:p>
            <a:r>
              <a:rPr lang="en-US" dirty="0"/>
              <a:t>    &lt;title&gt;Specify Alternate Sources for audio Element in HTML&lt;/title&gt;</a:t>
            </a:r>
          </a:p>
          <a:p>
            <a:r>
              <a:rPr lang="en-US" dirty="0"/>
              <a:t>&lt;/head&gt;</a:t>
            </a:r>
          </a:p>
          <a:p>
            <a:r>
              <a:rPr lang="en-US" dirty="0"/>
              <a:t>&lt;body&gt;</a:t>
            </a:r>
          </a:p>
          <a:p>
            <a:r>
              <a:rPr lang="en-US" dirty="0"/>
              <a:t>    &lt;audio controls="controls"&gt;</a:t>
            </a:r>
          </a:p>
          <a:p>
            <a:r>
              <a:rPr lang="en-US" dirty="0"/>
              <a:t>        &lt;source </a:t>
            </a:r>
            <a:r>
              <a:rPr lang="en-US" dirty="0" err="1"/>
              <a:t>src</a:t>
            </a:r>
            <a:r>
              <a:rPr lang="en-US" dirty="0"/>
              <a:t>="/examples/audio/birds.mp3" type="audio/mpeg"&gt;</a:t>
            </a:r>
          </a:p>
          <a:p>
            <a:r>
              <a:rPr lang="en-US" dirty="0"/>
              <a:t>        &lt;source </a:t>
            </a:r>
            <a:r>
              <a:rPr lang="en-US" dirty="0" err="1"/>
              <a:t>src</a:t>
            </a:r>
            <a:r>
              <a:rPr lang="en-US" dirty="0"/>
              <a:t>="/examples/audio/birds.ogg" type="audio/</a:t>
            </a:r>
            <a:r>
              <a:rPr lang="en-US" dirty="0" err="1"/>
              <a:t>ogg</a:t>
            </a:r>
            <a:r>
              <a:rPr lang="en-US" dirty="0"/>
              <a:t>"&gt;</a:t>
            </a:r>
          </a:p>
          <a:p>
            <a:r>
              <a:rPr lang="en-US" dirty="0"/>
              <a:t>        Your browser does not support the HTML5 audio element.</a:t>
            </a:r>
          </a:p>
          <a:p>
            <a:r>
              <a:rPr lang="en-US" dirty="0"/>
              <a:t>    &lt;/audio&gt;</a:t>
            </a:r>
          </a:p>
          <a:p>
            <a:r>
              <a:rPr lang="en-US" dirty="0"/>
              <a:t>&lt;/body&gt;</a:t>
            </a:r>
          </a:p>
          <a:p>
            <a:r>
              <a:rPr lang="en-US" dirty="0"/>
              <a:t>&lt;/html&gt; </a:t>
            </a:r>
          </a:p>
        </p:txBody>
      </p:sp>
    </p:spTree>
    <p:extLst>
      <p:ext uri="{BB962C8B-B14F-4D97-AF65-F5344CB8AC3E}">
        <p14:creationId xmlns:p14="http://schemas.microsoft.com/office/powerpoint/2010/main" val="30814056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Linking audio</a:t>
            </a:r>
            <a:endParaRPr lang="en-US" dirty="0"/>
          </a:p>
        </p:txBody>
      </p:sp>
      <p:sp>
        <p:nvSpPr>
          <p:cNvPr id="3" name="Content Placeholder 2"/>
          <p:cNvSpPr>
            <a:spLocks noGrp="1"/>
          </p:cNvSpPr>
          <p:nvPr>
            <p:ph idx="1"/>
          </p:nvPr>
        </p:nvSpPr>
        <p:spPr/>
        <p:txBody>
          <a:bodyPr>
            <a:normAutofit fontScale="77500" lnSpcReduction="20000"/>
          </a:bodyPr>
          <a:lstStyle/>
          <a:p>
            <a:r>
              <a:rPr lang="en-US" dirty="0"/>
              <a:t>&lt;!DOCTYPE html&gt;</a:t>
            </a:r>
          </a:p>
          <a:p>
            <a:r>
              <a:rPr lang="en-US" dirty="0"/>
              <a:t>&lt;html </a:t>
            </a:r>
            <a:r>
              <a:rPr lang="en-US" dirty="0" err="1"/>
              <a:t>lang</a:t>
            </a:r>
            <a:r>
              <a:rPr lang="en-US" dirty="0"/>
              <a:t>="</a:t>
            </a:r>
            <a:r>
              <a:rPr lang="en-US" dirty="0" err="1"/>
              <a:t>en</a:t>
            </a:r>
            <a:r>
              <a:rPr lang="en-US" dirty="0"/>
              <a:t>"&gt;</a:t>
            </a:r>
          </a:p>
          <a:p>
            <a:r>
              <a:rPr lang="en-US" dirty="0"/>
              <a:t>&lt;head&gt;</a:t>
            </a:r>
          </a:p>
          <a:p>
            <a:r>
              <a:rPr lang="en-US" dirty="0"/>
              <a:t>    &lt;meta charset="utf-8"&gt;</a:t>
            </a:r>
          </a:p>
          <a:p>
            <a:r>
              <a:rPr lang="en-US" dirty="0"/>
              <a:t>    &lt;title&gt;Linking Audio Files in HTML&lt;/title&gt;</a:t>
            </a:r>
          </a:p>
          <a:p>
            <a:r>
              <a:rPr lang="en-US" dirty="0"/>
              <a:t>&lt;/head&gt;</a:t>
            </a:r>
          </a:p>
          <a:p>
            <a:r>
              <a:rPr lang="en-US" dirty="0"/>
              <a:t>&lt;body&gt;</a:t>
            </a:r>
          </a:p>
          <a:p>
            <a:r>
              <a:rPr lang="en-US" dirty="0"/>
              <a:t>    &lt;p&gt;&lt;a </a:t>
            </a:r>
            <a:r>
              <a:rPr lang="en-US" dirty="0" err="1"/>
              <a:t>href</a:t>
            </a:r>
            <a:r>
              <a:rPr lang="en-US" dirty="0"/>
              <a:t>="/examples/audio/sea.mp3"&gt;Track 1&lt;/a&gt;&lt;/p&gt;</a:t>
            </a:r>
          </a:p>
          <a:p>
            <a:r>
              <a:rPr lang="en-US" dirty="0"/>
              <a:t>    &lt;p&gt;&lt;a </a:t>
            </a:r>
            <a:r>
              <a:rPr lang="en-US" dirty="0" err="1"/>
              <a:t>href</a:t>
            </a:r>
            <a:r>
              <a:rPr lang="en-US" dirty="0"/>
              <a:t>="/examples/audio/wind.mp3"&gt;Track 2&lt;/a&gt;&lt;/p&gt;</a:t>
            </a:r>
          </a:p>
          <a:p>
            <a:r>
              <a:rPr lang="en-US" dirty="0"/>
              <a:t>&lt;/body&gt;</a:t>
            </a:r>
          </a:p>
          <a:p>
            <a:r>
              <a:rPr lang="en-US" dirty="0"/>
              <a:t>&lt;/html&gt;</a:t>
            </a:r>
          </a:p>
        </p:txBody>
      </p:sp>
    </p:spTree>
    <p:extLst>
      <p:ext uri="{BB962C8B-B14F-4D97-AF65-F5344CB8AC3E}">
        <p14:creationId xmlns:p14="http://schemas.microsoft.com/office/powerpoint/2010/main" val="38065521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&lt;!DOCTYPE html&gt;</a:t>
            </a:r>
          </a:p>
          <a:p>
            <a:r>
              <a:rPr lang="en-US" dirty="0"/>
              <a:t>&lt;html </a:t>
            </a:r>
            <a:r>
              <a:rPr lang="en-US" dirty="0" err="1"/>
              <a:t>lang</a:t>
            </a:r>
            <a:r>
              <a:rPr lang="en-US" dirty="0"/>
              <a:t>="</a:t>
            </a:r>
            <a:r>
              <a:rPr lang="en-US" dirty="0" err="1"/>
              <a:t>en</a:t>
            </a:r>
            <a:r>
              <a:rPr lang="en-US" dirty="0"/>
              <a:t>"&gt;</a:t>
            </a:r>
          </a:p>
          <a:p>
            <a:r>
              <a:rPr lang="en-US" dirty="0"/>
              <a:t>&lt;head&gt;</a:t>
            </a:r>
          </a:p>
          <a:p>
            <a:r>
              <a:rPr lang="en-US" dirty="0"/>
              <a:t>    &lt;meta charset="utf-8"&gt;</a:t>
            </a:r>
          </a:p>
          <a:p>
            <a:r>
              <a:rPr lang="en-US" dirty="0"/>
              <a:t>    &lt;title&gt;Inserting Audio Using embed Element&lt;/title&gt;</a:t>
            </a:r>
          </a:p>
          <a:p>
            <a:r>
              <a:rPr lang="en-US" dirty="0"/>
              <a:t>&lt;/head&gt;</a:t>
            </a:r>
          </a:p>
          <a:p>
            <a:r>
              <a:rPr lang="en-US" dirty="0"/>
              <a:t>&lt;body&gt;</a:t>
            </a:r>
          </a:p>
          <a:p>
            <a:r>
              <a:rPr lang="en-US" dirty="0"/>
              <a:t>    &lt;embed </a:t>
            </a:r>
            <a:r>
              <a:rPr lang="en-US" dirty="0" err="1"/>
              <a:t>src</a:t>
            </a:r>
            <a:r>
              <a:rPr lang="en-US" dirty="0"/>
              <a:t>="/examples/audio/wind.mp3"&gt;</a:t>
            </a:r>
          </a:p>
          <a:p>
            <a:r>
              <a:rPr lang="en-US" dirty="0"/>
              <a:t>    &lt;embed </a:t>
            </a:r>
            <a:r>
              <a:rPr lang="en-US" dirty="0" err="1"/>
              <a:t>src</a:t>
            </a:r>
            <a:r>
              <a:rPr lang="en-US" dirty="0"/>
              <a:t>="/examples/audio/wind.ogg"&gt;</a:t>
            </a:r>
          </a:p>
          <a:p>
            <a:r>
              <a:rPr lang="en-US" dirty="0"/>
              <a:t>&lt;/body&gt;</a:t>
            </a:r>
          </a:p>
          <a:p>
            <a:r>
              <a:rPr lang="en-US" dirty="0"/>
              <a:t>&lt;/html&gt;</a:t>
            </a:r>
          </a:p>
        </p:txBody>
      </p:sp>
    </p:spTree>
    <p:extLst>
      <p:ext uri="{BB962C8B-B14F-4D97-AF65-F5344CB8AC3E}">
        <p14:creationId xmlns:p14="http://schemas.microsoft.com/office/powerpoint/2010/main" val="12438913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HTML-5 Video Element</a:t>
            </a:r>
            <a:endParaRPr lang="en-US" dirty="0"/>
          </a:p>
        </p:txBody>
      </p:sp>
      <p:sp>
        <p:nvSpPr>
          <p:cNvPr id="3" name="Content Placeholder 2"/>
          <p:cNvSpPr>
            <a:spLocks noGrp="1"/>
          </p:cNvSpPr>
          <p:nvPr>
            <p:ph idx="1"/>
          </p:nvPr>
        </p:nvSpPr>
        <p:spPr/>
        <p:txBody>
          <a:bodyPr/>
          <a:lstStyle/>
          <a:p>
            <a:r>
              <a:rPr lang="en-US" dirty="0" smtClean="0"/>
              <a:t>The </a:t>
            </a:r>
            <a:r>
              <a:rPr lang="en-US" dirty="0"/>
              <a:t>newly introduced HTML5 &lt;video&gt; element provides a standard way to embed video in web pages. </a:t>
            </a:r>
            <a:endParaRPr lang="en-US" dirty="0" smtClean="0"/>
          </a:p>
          <a:p>
            <a:r>
              <a:rPr lang="en-US" dirty="0" smtClean="0"/>
              <a:t>the </a:t>
            </a:r>
            <a:r>
              <a:rPr lang="en-US" dirty="0"/>
              <a:t>video element is relatively new, but it works in most of the modern web browsers.</a:t>
            </a:r>
          </a:p>
          <a:p>
            <a:endParaRPr lang="en-US" dirty="0"/>
          </a:p>
          <a:p>
            <a:r>
              <a:rPr lang="en-US" dirty="0"/>
              <a:t>The following example simply inserts a video into the HTML document, using the browser default set of controls, with one source defined by the </a:t>
            </a:r>
            <a:r>
              <a:rPr lang="en-US" dirty="0" err="1"/>
              <a:t>src</a:t>
            </a:r>
            <a:r>
              <a:rPr lang="en-US" dirty="0"/>
              <a:t> attribute.</a:t>
            </a:r>
          </a:p>
        </p:txBody>
      </p:sp>
    </p:spTree>
    <p:extLst>
      <p:ext uri="{BB962C8B-B14F-4D97-AF65-F5344CB8AC3E}">
        <p14:creationId xmlns:p14="http://schemas.microsoft.com/office/powerpoint/2010/main" val="12612158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&lt;!DOCTYPE html&gt;</a:t>
            </a:r>
          </a:p>
          <a:p>
            <a:r>
              <a:rPr lang="en-US" dirty="0"/>
              <a:t>&lt;html </a:t>
            </a:r>
            <a:r>
              <a:rPr lang="en-US" dirty="0" err="1"/>
              <a:t>lang</a:t>
            </a:r>
            <a:r>
              <a:rPr lang="en-US" dirty="0"/>
              <a:t>="</a:t>
            </a:r>
            <a:r>
              <a:rPr lang="en-US" dirty="0" err="1"/>
              <a:t>en</a:t>
            </a:r>
            <a:r>
              <a:rPr lang="en-US" dirty="0"/>
              <a:t>"&gt;</a:t>
            </a:r>
          </a:p>
          <a:p>
            <a:r>
              <a:rPr lang="en-US" dirty="0"/>
              <a:t>&lt;head&gt;</a:t>
            </a:r>
          </a:p>
          <a:p>
            <a:r>
              <a:rPr lang="en-US" dirty="0"/>
              <a:t>    &lt;meta charset="utf-8"&gt;</a:t>
            </a:r>
          </a:p>
          <a:p>
            <a:r>
              <a:rPr lang="en-US" dirty="0"/>
              <a:t>    &lt;title&gt;Embedding Video into an HTML Page&lt;/title&gt;</a:t>
            </a:r>
          </a:p>
          <a:p>
            <a:r>
              <a:rPr lang="en-US" dirty="0"/>
              <a:t>&lt;/head&gt;</a:t>
            </a:r>
          </a:p>
          <a:p>
            <a:r>
              <a:rPr lang="en-US" dirty="0"/>
              <a:t>&lt;body&gt;</a:t>
            </a:r>
          </a:p>
          <a:p>
            <a:r>
              <a:rPr lang="en-US" dirty="0"/>
              <a:t>	&lt;video controls="controls" </a:t>
            </a:r>
            <a:r>
              <a:rPr lang="en-US" dirty="0" err="1"/>
              <a:t>src</a:t>
            </a:r>
            <a:r>
              <a:rPr lang="en-US" dirty="0"/>
              <a:t>="/examples/video/shuttle.mp4"&gt;</a:t>
            </a:r>
          </a:p>
          <a:p>
            <a:r>
              <a:rPr lang="en-US" dirty="0"/>
              <a:t>        Your browser does not support the HTML5 Video element.</a:t>
            </a:r>
          </a:p>
          <a:p>
            <a:r>
              <a:rPr lang="en-US" dirty="0"/>
              <a:t>    &lt;/video&gt;</a:t>
            </a:r>
          </a:p>
          <a:p>
            <a:r>
              <a:rPr lang="en-US" dirty="0"/>
              <a:t>&lt;/body&gt;</a:t>
            </a:r>
          </a:p>
          <a:p>
            <a:r>
              <a:rPr lang="en-US" dirty="0"/>
              <a:t>&lt;/html&gt;</a:t>
            </a:r>
          </a:p>
        </p:txBody>
      </p:sp>
    </p:spTree>
    <p:extLst>
      <p:ext uri="{BB962C8B-B14F-4D97-AF65-F5344CB8AC3E}">
        <p14:creationId xmlns:p14="http://schemas.microsoft.com/office/powerpoint/2010/main" val="16227349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dirty="0"/>
              <a:t>&lt;!DOCTYPE html&gt;</a:t>
            </a:r>
          </a:p>
          <a:p>
            <a:r>
              <a:rPr lang="en-US" dirty="0"/>
              <a:t>&lt;html </a:t>
            </a:r>
            <a:r>
              <a:rPr lang="en-US" dirty="0" err="1"/>
              <a:t>lang</a:t>
            </a:r>
            <a:r>
              <a:rPr lang="en-US" dirty="0"/>
              <a:t>="</a:t>
            </a:r>
            <a:r>
              <a:rPr lang="en-US" dirty="0" err="1"/>
              <a:t>en</a:t>
            </a:r>
            <a:r>
              <a:rPr lang="en-US" dirty="0"/>
              <a:t>"&gt;</a:t>
            </a:r>
          </a:p>
          <a:p>
            <a:r>
              <a:rPr lang="en-US" dirty="0"/>
              <a:t>&lt;head&gt;</a:t>
            </a:r>
          </a:p>
          <a:p>
            <a:r>
              <a:rPr lang="en-US" dirty="0"/>
              <a:t>    &lt;meta charset="utf-8"&gt;</a:t>
            </a:r>
          </a:p>
          <a:p>
            <a:r>
              <a:rPr lang="en-US" dirty="0"/>
              <a:t>    &lt;title&gt;Specify Alternate Sources for video Element in HTML&lt;/title&gt;</a:t>
            </a:r>
          </a:p>
          <a:p>
            <a:r>
              <a:rPr lang="en-US" dirty="0"/>
              <a:t>&lt;/head&gt;</a:t>
            </a:r>
          </a:p>
          <a:p>
            <a:r>
              <a:rPr lang="en-US" dirty="0"/>
              <a:t>&lt;body&gt;</a:t>
            </a:r>
          </a:p>
          <a:p>
            <a:r>
              <a:rPr lang="en-US" dirty="0"/>
              <a:t>	&lt;video controls="controls"&gt;</a:t>
            </a:r>
          </a:p>
          <a:p>
            <a:r>
              <a:rPr lang="en-US" dirty="0"/>
              <a:t>        &lt;source </a:t>
            </a:r>
            <a:r>
              <a:rPr lang="en-US" dirty="0" err="1"/>
              <a:t>src</a:t>
            </a:r>
            <a:r>
              <a:rPr lang="en-US" dirty="0"/>
              <a:t>="/examples/video/shuttle.mp4" type="video/mp4"&gt;</a:t>
            </a:r>
          </a:p>
          <a:p>
            <a:r>
              <a:rPr lang="en-US" dirty="0"/>
              <a:t>        &lt;source </a:t>
            </a:r>
            <a:r>
              <a:rPr lang="en-US" dirty="0" err="1"/>
              <a:t>src</a:t>
            </a:r>
            <a:r>
              <a:rPr lang="en-US" dirty="0"/>
              <a:t>="/examples/video/</a:t>
            </a:r>
            <a:r>
              <a:rPr lang="en-US" dirty="0" err="1"/>
              <a:t>shuttle.ogv</a:t>
            </a:r>
            <a:r>
              <a:rPr lang="en-US" dirty="0"/>
              <a:t>" type="video/</a:t>
            </a:r>
            <a:r>
              <a:rPr lang="en-US" dirty="0" err="1"/>
              <a:t>ogg</a:t>
            </a:r>
            <a:r>
              <a:rPr lang="en-US" dirty="0"/>
              <a:t>"&gt;</a:t>
            </a:r>
          </a:p>
          <a:p>
            <a:r>
              <a:rPr lang="en-US" dirty="0"/>
              <a:t>        Your browser does not support the HTML5 Video element.</a:t>
            </a:r>
          </a:p>
          <a:p>
            <a:r>
              <a:rPr lang="en-US" dirty="0"/>
              <a:t>    &lt;/video&gt;</a:t>
            </a:r>
          </a:p>
          <a:p>
            <a:r>
              <a:rPr lang="en-US" dirty="0"/>
              <a:t>&lt;/body&gt;</a:t>
            </a:r>
          </a:p>
          <a:p>
            <a:r>
              <a:rPr lang="en-US" dirty="0"/>
              <a:t>&lt;/html&gt;</a:t>
            </a:r>
          </a:p>
        </p:txBody>
      </p:sp>
    </p:spTree>
    <p:extLst>
      <p:ext uri="{BB962C8B-B14F-4D97-AF65-F5344CB8AC3E}">
        <p14:creationId xmlns:p14="http://schemas.microsoft.com/office/powerpoint/2010/main" val="2319765923"/>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210</TotalTime>
  <Words>5701</Words>
  <Application>Microsoft Office PowerPoint</Application>
  <PresentationFormat>Widescreen</PresentationFormat>
  <Paragraphs>552</Paragraphs>
  <Slides>85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Trebuchet MS</vt:lpstr>
      <vt:lpstr>Berlin</vt:lpstr>
      <vt:lpstr>Html &amp; Html-5 </vt:lpstr>
      <vt:lpstr>PowerPoint Presentation</vt:lpstr>
      <vt:lpstr>PowerPoint Presentation</vt:lpstr>
      <vt:lpstr>Html History</vt:lpstr>
      <vt:lpstr>PowerPoint Presentation</vt:lpstr>
      <vt:lpstr>PowerPoint Presentation</vt:lpstr>
      <vt:lpstr>PowerPoint Presentation</vt:lpstr>
      <vt:lpstr>PowerPoint Presentation</vt:lpstr>
      <vt:lpstr> Benefits Of Using HTML5 Over HTML </vt:lpstr>
      <vt:lpstr>PowerPoint Presentation</vt:lpstr>
      <vt:lpstr> Why HTML 5 Is Better Than HTML? </vt:lpstr>
      <vt:lpstr>PowerPoint Presentation</vt:lpstr>
      <vt:lpstr>PowerPoint Presentation</vt:lpstr>
      <vt:lpstr> HTML5 document with HTML5 doctype </vt:lpstr>
      <vt:lpstr>PowerPoint Presentation</vt:lpstr>
      <vt:lpstr>PowerPoint Presentation</vt:lpstr>
      <vt:lpstr>PowerPoint Presentation</vt:lpstr>
      <vt:lpstr>PowerPoint Presentation</vt:lpstr>
      <vt:lpstr>Need of the Html</vt:lpstr>
      <vt:lpstr>Anatomy of an HTML element </vt:lpstr>
      <vt:lpstr>PowerPoint Presentation</vt:lpstr>
      <vt:lpstr>PowerPoint Presentation</vt:lpstr>
      <vt:lpstr>PowerPoint Presentation</vt:lpstr>
      <vt:lpstr>PowerPoint Presentation</vt:lpstr>
      <vt:lpstr>'HTML5 Semantic Elements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HTML-5 Audio Element</vt:lpstr>
      <vt:lpstr>PowerPoint Presentation</vt:lpstr>
      <vt:lpstr>PowerPoint Presentation</vt:lpstr>
      <vt:lpstr>Linking audio</vt:lpstr>
      <vt:lpstr>PowerPoint Presentation</vt:lpstr>
      <vt:lpstr>HTML-5 Video Element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&amp; Html-5</dc:title>
  <dc:creator>Vivek Puranik</dc:creator>
  <cp:lastModifiedBy>Vivek Puranik</cp:lastModifiedBy>
  <cp:revision>13</cp:revision>
  <dcterms:created xsi:type="dcterms:W3CDTF">2022-05-06T12:36:24Z</dcterms:created>
  <dcterms:modified xsi:type="dcterms:W3CDTF">2022-05-09T07:06:08Z</dcterms:modified>
</cp:coreProperties>
</file>